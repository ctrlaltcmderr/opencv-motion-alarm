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media1.mp4" ContentType="video/unknown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mbria"/>
      </a:defRPr>
    </a:lvl1pPr>
    <a:lvl2pPr indent="228600" latinLnBrk="0">
      <a:defRPr sz="1200">
        <a:latin typeface="+mj-lt"/>
        <a:ea typeface="+mj-ea"/>
        <a:cs typeface="+mj-cs"/>
        <a:sym typeface="Cambria"/>
      </a:defRPr>
    </a:lvl2pPr>
    <a:lvl3pPr indent="457200" latinLnBrk="0">
      <a:defRPr sz="1200">
        <a:latin typeface="+mj-lt"/>
        <a:ea typeface="+mj-ea"/>
        <a:cs typeface="+mj-cs"/>
        <a:sym typeface="Cambria"/>
      </a:defRPr>
    </a:lvl3pPr>
    <a:lvl4pPr indent="685800" latinLnBrk="0">
      <a:defRPr sz="1200">
        <a:latin typeface="+mj-lt"/>
        <a:ea typeface="+mj-ea"/>
        <a:cs typeface="+mj-cs"/>
        <a:sym typeface="Cambria"/>
      </a:defRPr>
    </a:lvl4pPr>
    <a:lvl5pPr indent="914400" latinLnBrk="0">
      <a:defRPr sz="1200">
        <a:latin typeface="+mj-lt"/>
        <a:ea typeface="+mj-ea"/>
        <a:cs typeface="+mj-cs"/>
        <a:sym typeface="Cambria"/>
      </a:defRPr>
    </a:lvl5pPr>
    <a:lvl6pPr indent="1143000" latinLnBrk="0">
      <a:defRPr sz="1200">
        <a:latin typeface="+mj-lt"/>
        <a:ea typeface="+mj-ea"/>
        <a:cs typeface="+mj-cs"/>
        <a:sym typeface="Cambria"/>
      </a:defRPr>
    </a:lvl6pPr>
    <a:lvl7pPr indent="1371600" latinLnBrk="0">
      <a:defRPr sz="1200">
        <a:latin typeface="+mj-lt"/>
        <a:ea typeface="+mj-ea"/>
        <a:cs typeface="+mj-cs"/>
        <a:sym typeface="Cambria"/>
      </a:defRPr>
    </a:lvl7pPr>
    <a:lvl8pPr indent="1600200" latinLnBrk="0">
      <a:defRPr sz="1200">
        <a:latin typeface="+mj-lt"/>
        <a:ea typeface="+mj-ea"/>
        <a:cs typeface="+mj-cs"/>
        <a:sym typeface="Cambria"/>
      </a:defRPr>
    </a:lvl8pPr>
    <a:lvl9pPr indent="1828800" latinLnBrk="0">
      <a:defRPr sz="1200">
        <a:latin typeface="+mj-lt"/>
        <a:ea typeface="+mj-ea"/>
        <a:cs typeface="+mj-cs"/>
        <a:sym typeface="Cambria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>
                <a:latin typeface="Cambria Bold"/>
                <a:ea typeface="Cambria Bold"/>
                <a:cs typeface="Cambria Bold"/>
                <a:sym typeface="Cambria Bold"/>
              </a:defRPr>
            </a:lvl1pPr>
            <a:lvl2pPr marL="0" indent="457200">
              <a:buSzTx/>
              <a:buFontTx/>
              <a:buNone/>
              <a:defRPr sz="2400">
                <a:latin typeface="Cambria Bold"/>
                <a:ea typeface="Cambria Bold"/>
                <a:cs typeface="Cambria Bold"/>
                <a:sym typeface="Cambria Bold"/>
              </a:defRPr>
            </a:lvl2pPr>
            <a:lvl3pPr marL="0" indent="914400">
              <a:buSzTx/>
              <a:buFontTx/>
              <a:buNone/>
              <a:defRPr sz="2400">
                <a:latin typeface="Cambria Bold"/>
                <a:ea typeface="Cambria Bold"/>
                <a:cs typeface="Cambria Bold"/>
                <a:sym typeface="Cambria Bold"/>
              </a:defRPr>
            </a:lvl3pPr>
            <a:lvl4pPr marL="0" indent="1371600">
              <a:buSzTx/>
              <a:buFontTx/>
              <a:buNone/>
              <a:defRPr sz="2400">
                <a:latin typeface="Cambria Bold"/>
                <a:ea typeface="Cambria Bold"/>
                <a:cs typeface="Cambria Bold"/>
                <a:sym typeface="Cambria Bold"/>
              </a:defRPr>
            </a:lvl4pPr>
            <a:lvl5pPr marL="0" indent="1828800">
              <a:buSzTx/>
              <a:buFontTx/>
              <a:buNone/>
              <a:defRPr sz="2400">
                <a:latin typeface="Cambria Bold"/>
                <a:ea typeface="Cambria Bold"/>
                <a:cs typeface="Cambria Bold"/>
                <a:sym typeface="Cambria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>
                <a:latin typeface="Cambria Bold"/>
                <a:ea typeface="Cambria Bold"/>
                <a:cs typeface="Cambria Bold"/>
                <a:sym typeface="Cambria Bold"/>
              </a:defRPr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80888" y="6404292"/>
            <a:ext cx="272912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ndale Mono"/>
          <a:ea typeface="Andale Mono"/>
          <a:cs typeface="Andale Mono"/>
          <a:sym typeface="Andale Mono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ndale Mono"/>
          <a:ea typeface="Andale Mono"/>
          <a:cs typeface="Andale Mono"/>
          <a:sym typeface="Andale Mono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ndale Mono"/>
          <a:ea typeface="Andale Mono"/>
          <a:cs typeface="Andale Mono"/>
          <a:sym typeface="Andale Mono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ndale Mono"/>
          <a:ea typeface="Andale Mono"/>
          <a:cs typeface="Andale Mono"/>
          <a:sym typeface="Andale Mono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ndale Mono"/>
          <a:ea typeface="Andale Mono"/>
          <a:cs typeface="Andale Mono"/>
          <a:sym typeface="Andale Mono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ndale Mono"/>
          <a:ea typeface="Andale Mono"/>
          <a:cs typeface="Andale Mono"/>
          <a:sym typeface="Andale Mono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ndale Mono"/>
          <a:ea typeface="Andale Mono"/>
          <a:cs typeface="Andale Mono"/>
          <a:sym typeface="Andale Mono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ndale Mono"/>
          <a:ea typeface="Andale Mono"/>
          <a:cs typeface="Andale Mono"/>
          <a:sym typeface="Andale Mono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ndale Mono"/>
          <a:ea typeface="Andale Mono"/>
          <a:cs typeface="Andale Mono"/>
          <a:sym typeface="Andale Mono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video" Target="../media/media1.mp4"/><Relationship Id="rId4" Type="http://schemas.microsoft.com/office/2007/relationships/media" Target="../media/media1.mp4"/><Relationship Id="rId5" Type="http://schemas.openxmlformats.org/officeDocument/2006/relationships/image" Target="../media/image1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docs.opencv.org/4.x/" TargetMode="External"/><Relationship Id="rId4" Type="http://schemas.openxmlformats.org/officeDocument/2006/relationships/hyperlink" Target="https://www.python.org/" TargetMode="External"/><Relationship Id="rId5" Type="http://schemas.openxmlformats.org/officeDocument/2006/relationships/hyperlink" Target="https://www.geeksforgeeks.org/python/webcam-motion-detector-python/" TargetMode="Externa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1748589" y="0"/>
            <a:ext cx="9144001" cy="1567543"/>
          </a:xfrm>
          <a:prstGeom prst="rect">
            <a:avLst/>
          </a:prstGeom>
        </p:spPr>
        <p:txBody>
          <a:bodyPr/>
          <a:lstStyle/>
          <a:p>
            <a:pPr>
              <a:defRPr spc="-200" sz="7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Motion Detection</a:t>
            </a:r>
            <a:br/>
            <a:r>
              <a:rPr sz="2800"/>
              <a:t>USING COMPUTER VISION</a:t>
            </a:r>
          </a:p>
        </p:txBody>
      </p:sp>
      <p:sp>
        <p:nvSpPr>
          <p:cNvPr id="95" name="Subtitle 2"/>
          <p:cNvSpPr txBox="1"/>
          <p:nvPr>
            <p:ph type="subTitle" sz="half" idx="1"/>
          </p:nvPr>
        </p:nvSpPr>
        <p:spPr>
          <a:xfrm>
            <a:off x="1843077" y="1577090"/>
            <a:ext cx="8955024" cy="2175217"/>
          </a:xfrm>
          <a:prstGeom prst="rect">
            <a:avLst/>
          </a:prstGeom>
        </p:spPr>
        <p:txBody>
          <a:bodyPr/>
          <a:lstStyle/>
          <a:p>
            <a:pPr defTabSz="365760">
              <a:lnSpc>
                <a:spcPct val="72000"/>
              </a:lnSpc>
              <a:spcBef>
                <a:spcPts val="400"/>
              </a:spcBef>
              <a:defRPr b="1" sz="176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</a:t>
            </a:r>
            <a:r>
              <a:rPr b="0" sz="2120"/>
              <a:t>Group No. 25G51</a:t>
            </a:r>
            <a:endParaRPr b="0" sz="2120"/>
          </a:p>
          <a:p>
            <a:pPr defTabSz="365760">
              <a:lnSpc>
                <a:spcPct val="72000"/>
              </a:lnSpc>
              <a:spcBef>
                <a:spcPts val="400"/>
              </a:spcBef>
              <a:defRPr b="1" sz="164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1400"/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sz="16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Moore Ellen Nischaya (25BECCS48)</a:t>
            </a:r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sz="16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Ankit Yadav (25BECCS14)</a:t>
            </a:r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sz="16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Anand Shukla (25BECCS12)</a:t>
            </a:r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sz="16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Rishi Sharma (25BECCS62)</a:t>
            </a:r>
            <a:endParaRPr sz="1360"/>
          </a:p>
          <a:p>
            <a:pPr defTabSz="365760">
              <a:lnSpc>
                <a:spcPct val="72000"/>
              </a:lnSpc>
              <a:spcBef>
                <a:spcPts val="4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</a:t>
            </a:r>
            <a:endParaRPr sz="1400"/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sz="196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Dr. Arvind Selwal</a:t>
            </a:r>
            <a:endParaRPr sz="4360"/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sz="196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(Supervisor</a:t>
            </a:r>
            <a:r>
              <a:rPr sz="1880"/>
              <a:t>)</a:t>
            </a:r>
            <a:endParaRPr sz="1360"/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spc="-89" sz="356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spc="-89" sz="356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spc="-89" sz="356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spc="-89" sz="356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spc="-89" sz="356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spc="-89" sz="356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spc="-89" sz="356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sz="3560"/>
            </a:pPr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sz="3560"/>
            </a:pPr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sz="3560"/>
            </a:pPr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b="1" sz="212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Department of Computer Science and Engineering </a:t>
            </a:r>
            <a:endParaRPr sz="5000"/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b="1" sz="212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Central   University of Jammu</a:t>
            </a:r>
            <a:endParaRPr sz="4040"/>
          </a:p>
          <a:p>
            <a:pPr lvl="1" indent="182880" defTabSz="365760">
              <a:lnSpc>
                <a:spcPct val="72000"/>
              </a:lnSpc>
              <a:spcBef>
                <a:spcPts val="200"/>
              </a:spcBef>
              <a:defRPr sz="1880"/>
            </a:pPr>
            <a:r>
              <a:t> Bagla (Rahya-Suchani), Samba, J&amp;K-181143</a:t>
            </a:r>
          </a:p>
        </p:txBody>
      </p:sp>
      <p:pic>
        <p:nvPicPr>
          <p:cNvPr id="9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15611" y="3946734"/>
            <a:ext cx="2009956" cy="17160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70983" y="231106"/>
            <a:ext cx="1581151" cy="1390651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TextBox 3"/>
          <p:cNvSpPr txBox="1"/>
          <p:nvPr/>
        </p:nvSpPr>
        <p:spPr>
          <a:xfrm>
            <a:off x="3346258" y="790760"/>
            <a:ext cx="5499483" cy="764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CONTENTS</a:t>
            </a:r>
          </a:p>
        </p:txBody>
      </p:sp>
      <p:sp>
        <p:nvSpPr>
          <p:cNvPr id="100" name="TextBox 5"/>
          <p:cNvSpPr txBox="1"/>
          <p:nvPr/>
        </p:nvSpPr>
        <p:spPr>
          <a:xfrm>
            <a:off x="831971" y="1974682"/>
            <a:ext cx="4654429" cy="439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INTRODUCTION</a:t>
            </a:r>
          </a:p>
          <a:p>
            <a:pPr marL="285750" indent="-285750">
              <a:buSzPct val="100000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MOTIVATION</a:t>
            </a:r>
          </a:p>
          <a:p>
            <a:pPr marL="285750" indent="-285750">
              <a:buSzPct val="100000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EXISTING METHODS</a:t>
            </a:r>
          </a:p>
          <a:p>
            <a:pPr marL="285750" indent="-285750">
              <a:buSzPct val="100000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CHALLENGES</a:t>
            </a:r>
          </a:p>
          <a:p>
            <a:pPr marL="285750" indent="-285750">
              <a:buSzPct val="100000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PROPOSED APPROACH</a:t>
            </a:r>
          </a:p>
          <a:p>
            <a:pPr marL="285750" indent="-285750">
              <a:buSzPct val="100000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SYSTEM IMPLEMENTATION</a:t>
            </a:r>
          </a:p>
          <a:p>
            <a:pPr marL="285750" indent="-285750">
              <a:buSzPct val="100000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ALGORITHM</a:t>
            </a:r>
          </a:p>
          <a:p>
            <a:pPr marL="285750" indent="-285750">
              <a:buSzPct val="100000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RESULTS </a:t>
            </a:r>
          </a:p>
          <a:p>
            <a:pPr marL="285750" indent="-285750">
              <a:buSzPct val="100000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APPLICATIONS</a:t>
            </a:r>
          </a:p>
          <a:p>
            <a:pPr marL="285750" indent="-285750">
              <a:buSzPct val="100000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CONCLUSION</a:t>
            </a:r>
          </a:p>
          <a:p>
            <a:pPr marL="285750" indent="-285750">
              <a:buSzPct val="100000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REFERENCES</a:t>
            </a:r>
          </a:p>
          <a:p>
            <a:pPr lvl="1" marL="742950" indent="-285750">
              <a:buSzPct val="100000"/>
              <a:buChar char="➢"/>
            </a:pPr>
          </a:p>
          <a:p>
            <a:pPr/>
            <a:r>
              <a:t>       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 txBox="1"/>
          <p:nvPr/>
        </p:nvSpPr>
        <p:spPr>
          <a:xfrm>
            <a:off x="2195362" y="429217"/>
            <a:ext cx="7801276" cy="764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103" name="TextBox 3"/>
          <p:cNvSpPr txBox="1"/>
          <p:nvPr/>
        </p:nvSpPr>
        <p:spPr>
          <a:xfrm>
            <a:off x="605027" y="1630296"/>
            <a:ext cx="11274553" cy="4828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Char char="➢"/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Motion detection is a computer vision technique used to detect movement in video streams.</a:t>
            </a:r>
          </a:p>
          <a:p>
            <a:pPr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42900" indent="-342900">
              <a:buSzPct val="100000"/>
              <a:buChar char="➢"/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method helps in identifying moving objects while ignoring static background.</a:t>
            </a:r>
          </a:p>
          <a:p>
            <a:pPr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42900" indent="-342900">
              <a:buSzPct val="100000"/>
              <a:buChar char="➢"/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enables automatic, real-time monitoring with minimal human effort.</a:t>
            </a:r>
          </a:p>
          <a:p>
            <a:pPr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42900" indent="-342900">
              <a:buSzPct val="100000"/>
              <a:buChar char="➢"/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operates by analysing variations between consecutive video frames to distinguish moving objects from a static background.</a:t>
            </a:r>
          </a:p>
          <a:p>
            <a:pPr marL="342900" indent="-342900">
              <a:buSzPct val="100000"/>
              <a:buChar char="➢"/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42900" indent="-342900">
              <a:buSzPct val="100000"/>
              <a:buChar char="➢"/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forms the basis for higher-level tasks such as object tracking, behavior analysis, and activity recognition.</a:t>
            </a:r>
          </a:p>
          <a:p>
            <a:pPr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42900" indent="-342900">
              <a:buSzPct val="100000"/>
              <a:buChar char="➢"/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Provides visual feedback using thresholding and audio alert (beep) with user-controlled toggle.</a:t>
            </a:r>
          </a:p>
          <a:p>
            <a:pPr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42900" indent="-342900">
              <a:buSzPct val="100000"/>
              <a:buChar char="➢"/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is widely used in surveillance, traffic monitoring, and smart security systems.</a:t>
            </a:r>
          </a:p>
        </p:txBody>
      </p:sp>
      <p:pic>
        <p:nvPicPr>
          <p:cNvPr id="10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80006" y="149391"/>
            <a:ext cx="1581151" cy="13906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 txBox="1"/>
          <p:nvPr/>
        </p:nvSpPr>
        <p:spPr>
          <a:xfrm>
            <a:off x="3149867" y="449178"/>
            <a:ext cx="5892265" cy="849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MOTIVATION</a:t>
            </a:r>
          </a:p>
        </p:txBody>
      </p:sp>
      <p:sp>
        <p:nvSpPr>
          <p:cNvPr id="107" name="TextBox 3"/>
          <p:cNvSpPr txBox="1"/>
          <p:nvPr/>
        </p:nvSpPr>
        <p:spPr>
          <a:xfrm>
            <a:off x="5861304" y="1744062"/>
            <a:ext cx="7013344" cy="4144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 marL="342900" indent="-342900">
              <a:buSzPct val="100000"/>
              <a:buChar char="❖"/>
              <a:defRPr b="1" sz="2000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Growing need for better security and </a:t>
            </a:r>
          </a:p>
          <a:p>
            <a:pPr>
              <a:defRPr b="1" sz="2000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surveillance</a:t>
            </a:r>
          </a:p>
          <a:p>
            <a:pPr>
              <a:defRPr b="1" sz="2000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42900" indent="-342900">
              <a:buSzPct val="100000"/>
              <a:buChar char="❖"/>
              <a:defRPr b="1" sz="2000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Manual monitoring is time-consuming and inefficient</a:t>
            </a:r>
          </a:p>
          <a:p>
            <a:pPr>
              <a:defRPr b="1" sz="2000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42900" indent="-342900">
              <a:buSzPct val="100000"/>
              <a:buChar char="❖"/>
              <a:defRPr b="1" sz="2000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Need for real-time detection of suspicious activities</a:t>
            </a:r>
          </a:p>
          <a:p>
            <a:pPr>
              <a:defRPr b="1" sz="2000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42900" indent="-342900">
              <a:buSzPct val="100000"/>
              <a:buChar char="❖"/>
              <a:defRPr b="1" sz="2000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Helps in reducing human effort and errors</a:t>
            </a:r>
          </a:p>
          <a:p>
            <a:pPr>
              <a:defRPr b="1" sz="2000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42900" indent="-342900">
              <a:buSzPct val="100000"/>
              <a:buChar char="❖"/>
              <a:defRPr b="1" sz="2000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Useful in smart homes and smart cities</a:t>
            </a:r>
          </a:p>
          <a:p>
            <a:pPr marL="342900" indent="-342900">
              <a:buSzPct val="100000"/>
              <a:buChar char="❖"/>
              <a:defRPr b="1" sz="2000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42900" indent="-342900">
              <a:buSzPct val="100000"/>
              <a:buChar char="❖"/>
              <a:defRPr b="1" sz="2000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Provides real time alert(beep) for detected motion</a:t>
            </a:r>
          </a:p>
        </p:txBody>
      </p:sp>
      <p:sp>
        <p:nvSpPr>
          <p:cNvPr id="108" name="TextBox 7"/>
          <p:cNvSpPr txBox="1"/>
          <p:nvPr/>
        </p:nvSpPr>
        <p:spPr>
          <a:xfrm>
            <a:off x="1317927" y="1928191"/>
            <a:ext cx="3049328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 </a:t>
            </a:r>
          </a:p>
        </p:txBody>
      </p:sp>
      <p:pic>
        <p:nvPicPr>
          <p:cNvPr id="10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70983" y="231106"/>
            <a:ext cx="1581151" cy="1390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Picture 9" descr="Pictur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5680" y="1744062"/>
            <a:ext cx="5456934" cy="47092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 txBox="1"/>
          <p:nvPr/>
        </p:nvSpPr>
        <p:spPr>
          <a:xfrm>
            <a:off x="1954731" y="412105"/>
            <a:ext cx="8282538" cy="849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EXISTING METHODS</a:t>
            </a:r>
          </a:p>
        </p:txBody>
      </p:sp>
      <p:pic>
        <p:nvPicPr>
          <p:cNvPr id="11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70983" y="231106"/>
            <a:ext cx="1581151" cy="139065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1" name="Diagram 6"/>
          <p:cNvGrpSpPr/>
          <p:nvPr/>
        </p:nvGrpSpPr>
        <p:grpSpPr>
          <a:xfrm>
            <a:off x="2122567" y="1774423"/>
            <a:ext cx="7848469" cy="4246305"/>
            <a:chOff x="0" y="0"/>
            <a:chExt cx="7848467" cy="4246304"/>
          </a:xfrm>
        </p:grpSpPr>
        <p:sp>
          <p:nvSpPr>
            <p:cNvPr id="114" name="Line"/>
            <p:cNvSpPr/>
            <p:nvPr/>
          </p:nvSpPr>
          <p:spPr>
            <a:xfrm>
              <a:off x="4392595" y="3953673"/>
              <a:ext cx="337074" cy="1"/>
            </a:xfrm>
            <a:prstGeom prst="line">
              <a:avLst/>
            </a:prstGeom>
            <a:noFill/>
            <a:ln w="19050" cap="flat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5" name="Line"/>
            <p:cNvSpPr/>
            <p:nvPr/>
          </p:nvSpPr>
          <p:spPr>
            <a:xfrm>
              <a:off x="886028" y="2232731"/>
              <a:ext cx="1290394" cy="17209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0800" y="0"/>
                  </a:lnTo>
                  <a:lnTo>
                    <a:pt x="10800" y="21600"/>
                  </a:lnTo>
                  <a:lnTo>
                    <a:pt x="21600" y="21600"/>
                  </a:lnTo>
                </a:path>
              </a:pathLst>
            </a:custGeom>
            <a:noFill/>
            <a:ln w="19050" cap="flat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311150">
                <a:lnSpc>
                  <a:spcPct val="90000"/>
                </a:lnSpc>
                <a:spcBef>
                  <a:spcPts val="700"/>
                </a:spcBef>
                <a:defRPr sz="700"/>
              </a:pPr>
            </a:p>
          </p:txBody>
        </p:sp>
        <p:sp>
          <p:nvSpPr>
            <p:cNvPr id="116" name="Line"/>
            <p:cNvSpPr/>
            <p:nvPr/>
          </p:nvSpPr>
          <p:spPr>
            <a:xfrm>
              <a:off x="4333432" y="3218946"/>
              <a:ext cx="383933" cy="1"/>
            </a:xfrm>
            <a:prstGeom prst="line">
              <a:avLst/>
            </a:prstGeom>
            <a:noFill/>
            <a:ln w="19050" cap="flat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7" name="Line"/>
            <p:cNvSpPr/>
            <p:nvPr/>
          </p:nvSpPr>
          <p:spPr>
            <a:xfrm>
              <a:off x="886028" y="2232731"/>
              <a:ext cx="1307537" cy="9862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0800" y="0"/>
                  </a:lnTo>
                  <a:lnTo>
                    <a:pt x="10800" y="21600"/>
                  </a:lnTo>
                  <a:lnTo>
                    <a:pt x="21600" y="21600"/>
                  </a:lnTo>
                </a:path>
              </a:pathLst>
            </a:custGeom>
            <a:noFill/>
            <a:ln w="19050" cap="flat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ts val="700"/>
                </a:spcBef>
                <a:defRPr sz="500"/>
              </a:pPr>
            </a:p>
          </p:txBody>
        </p:sp>
        <p:sp>
          <p:nvSpPr>
            <p:cNvPr id="118" name="Line"/>
            <p:cNvSpPr/>
            <p:nvPr/>
          </p:nvSpPr>
          <p:spPr>
            <a:xfrm>
              <a:off x="4339881" y="2487367"/>
              <a:ext cx="383934" cy="1"/>
            </a:xfrm>
            <a:prstGeom prst="line">
              <a:avLst/>
            </a:prstGeom>
            <a:noFill/>
            <a:ln w="19050" cap="flat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9" name="Line"/>
            <p:cNvSpPr/>
            <p:nvPr/>
          </p:nvSpPr>
          <p:spPr>
            <a:xfrm>
              <a:off x="886028" y="2232731"/>
              <a:ext cx="1307537" cy="2546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0800" y="0"/>
                  </a:lnTo>
                  <a:lnTo>
                    <a:pt x="10800" y="21600"/>
                  </a:lnTo>
                  <a:lnTo>
                    <a:pt x="21600" y="21600"/>
                  </a:lnTo>
                </a:path>
              </a:pathLst>
            </a:custGeom>
            <a:noFill/>
            <a:ln w="19050" cap="flat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ts val="700"/>
                </a:spcBef>
                <a:defRPr sz="500"/>
              </a:pPr>
            </a:p>
          </p:txBody>
        </p:sp>
        <p:sp>
          <p:nvSpPr>
            <p:cNvPr id="120" name="Line"/>
            <p:cNvSpPr/>
            <p:nvPr/>
          </p:nvSpPr>
          <p:spPr>
            <a:xfrm>
              <a:off x="4318382" y="1755788"/>
              <a:ext cx="383933" cy="1"/>
            </a:xfrm>
            <a:prstGeom prst="line">
              <a:avLst/>
            </a:prstGeom>
            <a:noFill/>
            <a:ln w="19050" cap="flat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1" name="Line"/>
            <p:cNvSpPr/>
            <p:nvPr/>
          </p:nvSpPr>
          <p:spPr>
            <a:xfrm>
              <a:off x="886028" y="1755788"/>
              <a:ext cx="1307537" cy="4769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0800" y="21600"/>
                  </a:lnTo>
                  <a:lnTo>
                    <a:pt x="10800" y="0"/>
                  </a:lnTo>
                  <a:lnTo>
                    <a:pt x="21600" y="0"/>
                  </a:lnTo>
                </a:path>
              </a:pathLst>
            </a:custGeom>
            <a:noFill/>
            <a:ln w="19050" cap="flat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ts val="700"/>
                </a:spcBef>
                <a:defRPr sz="500"/>
              </a:pPr>
            </a:p>
          </p:txBody>
        </p:sp>
        <p:sp>
          <p:nvSpPr>
            <p:cNvPr id="122" name="Line"/>
            <p:cNvSpPr/>
            <p:nvPr/>
          </p:nvSpPr>
          <p:spPr>
            <a:xfrm>
              <a:off x="4358156" y="658421"/>
              <a:ext cx="383933" cy="365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0800" y="0"/>
                  </a:lnTo>
                  <a:lnTo>
                    <a:pt x="10800" y="21600"/>
                  </a:lnTo>
                  <a:lnTo>
                    <a:pt x="21600" y="21600"/>
                  </a:lnTo>
                </a:path>
              </a:pathLst>
            </a:custGeom>
            <a:noFill/>
            <a:ln w="19050" cap="flat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ts val="700"/>
                </a:spcBef>
                <a:defRPr sz="500"/>
              </a:pPr>
            </a:p>
          </p:txBody>
        </p:sp>
        <p:sp>
          <p:nvSpPr>
            <p:cNvPr id="123" name="Line"/>
            <p:cNvSpPr/>
            <p:nvPr/>
          </p:nvSpPr>
          <p:spPr>
            <a:xfrm>
              <a:off x="4358156" y="292631"/>
              <a:ext cx="383933" cy="3657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0800" y="21600"/>
                  </a:lnTo>
                  <a:lnTo>
                    <a:pt x="10800" y="0"/>
                  </a:lnTo>
                  <a:lnTo>
                    <a:pt x="21600" y="0"/>
                  </a:lnTo>
                </a:path>
              </a:pathLst>
            </a:custGeom>
            <a:noFill/>
            <a:ln w="19050" cap="flat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ts val="700"/>
                </a:spcBef>
                <a:defRPr sz="500"/>
              </a:pPr>
            </a:p>
          </p:txBody>
        </p:sp>
        <p:sp>
          <p:nvSpPr>
            <p:cNvPr id="124" name="Line"/>
            <p:cNvSpPr/>
            <p:nvPr/>
          </p:nvSpPr>
          <p:spPr>
            <a:xfrm>
              <a:off x="886028" y="658421"/>
              <a:ext cx="1307537" cy="15743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0800" y="21600"/>
                  </a:lnTo>
                  <a:lnTo>
                    <a:pt x="10800" y="0"/>
                  </a:lnTo>
                  <a:lnTo>
                    <a:pt x="21600" y="0"/>
                  </a:lnTo>
                </a:path>
              </a:pathLst>
            </a:custGeom>
            <a:noFill/>
            <a:ln w="19050" cap="flat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311150">
                <a:lnSpc>
                  <a:spcPct val="90000"/>
                </a:lnSpc>
                <a:spcBef>
                  <a:spcPts val="700"/>
                </a:spcBef>
                <a:defRPr sz="700"/>
              </a:pPr>
            </a:p>
          </p:txBody>
        </p:sp>
        <p:grpSp>
          <p:nvGrpSpPr>
            <p:cNvPr id="127" name="Group"/>
            <p:cNvGrpSpPr/>
            <p:nvPr/>
          </p:nvGrpSpPr>
          <p:grpSpPr>
            <a:xfrm>
              <a:off x="0" y="579209"/>
              <a:ext cx="886029" cy="3307045"/>
              <a:chOff x="0" y="0"/>
              <a:chExt cx="886027" cy="3307043"/>
            </a:xfrm>
          </p:grpSpPr>
          <p:sp>
            <p:nvSpPr>
              <p:cNvPr id="125" name="Rectangle"/>
              <p:cNvSpPr/>
              <p:nvPr/>
            </p:nvSpPr>
            <p:spPr>
              <a:xfrm rot="16200000">
                <a:off x="-1210508" y="1210507"/>
                <a:ext cx="3307044" cy="886029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12446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26" name="MOTION DETECTION"/>
              <p:cNvSpPr txBox="1"/>
              <p:nvPr/>
            </p:nvSpPr>
            <p:spPr>
              <a:xfrm rot="16200000">
                <a:off x="-1210508" y="1256459"/>
                <a:ext cx="3307044" cy="7941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7779" tIns="17779" rIns="17779" bIns="17779" numCol="1" anchor="ctr">
                <a:spAutoFit/>
              </a:bodyPr>
              <a:lstStyle>
                <a:lvl1pPr algn="ctr" defTabSz="1244600">
                  <a:lnSpc>
                    <a:spcPct val="90000"/>
                  </a:lnSpc>
                  <a:spcBef>
                    <a:spcPts val="1100"/>
                  </a:spcBef>
                  <a:defRPr b="1" sz="2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pPr/>
                <a:r>
                  <a:t>MOTION DETECTION</a:t>
                </a:r>
              </a:p>
            </p:txBody>
          </p:sp>
        </p:grpSp>
        <p:grpSp>
          <p:nvGrpSpPr>
            <p:cNvPr id="130" name="Group"/>
            <p:cNvGrpSpPr/>
            <p:nvPr/>
          </p:nvGrpSpPr>
          <p:grpSpPr>
            <a:xfrm>
              <a:off x="2193564" y="365790"/>
              <a:ext cx="2164593" cy="585263"/>
              <a:chOff x="0" y="0"/>
              <a:chExt cx="2164591" cy="585261"/>
            </a:xfrm>
          </p:grpSpPr>
          <p:sp>
            <p:nvSpPr>
              <p:cNvPr id="128" name="Rectangle"/>
              <p:cNvSpPr/>
              <p:nvPr/>
            </p:nvSpPr>
            <p:spPr>
              <a:xfrm>
                <a:off x="0" y="0"/>
                <a:ext cx="2164592" cy="585262"/>
              </a:xfrm>
              <a:prstGeom prst="rect">
                <a:avLst/>
              </a:pr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29" name="BASIC METHODS"/>
              <p:cNvSpPr txBox="1"/>
              <p:nvPr/>
            </p:nvSpPr>
            <p:spPr>
              <a:xfrm>
                <a:off x="0" y="172487"/>
                <a:ext cx="2164592" cy="2402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>
                <a:lvl1pPr algn="ctr" defTabSz="711200">
                  <a:lnSpc>
                    <a:spcPct val="90000"/>
                  </a:lnSpc>
                  <a:spcBef>
                    <a:spcPts val="600"/>
                  </a:spcBef>
                  <a:defRPr b="1" sz="16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pPr/>
                <a:r>
                  <a:t>BASIC METHODS</a:t>
                </a:r>
              </a:p>
            </p:txBody>
          </p:sp>
        </p:grpSp>
        <p:grpSp>
          <p:nvGrpSpPr>
            <p:cNvPr id="133" name="Group"/>
            <p:cNvGrpSpPr/>
            <p:nvPr/>
          </p:nvGrpSpPr>
          <p:grpSpPr>
            <a:xfrm>
              <a:off x="4742089" y="0"/>
              <a:ext cx="3069830" cy="585262"/>
              <a:chOff x="0" y="0"/>
              <a:chExt cx="3069828" cy="585261"/>
            </a:xfrm>
          </p:grpSpPr>
          <p:sp>
            <p:nvSpPr>
              <p:cNvPr id="131" name="Rectangle"/>
              <p:cNvSpPr/>
              <p:nvPr/>
            </p:nvSpPr>
            <p:spPr>
              <a:xfrm>
                <a:off x="-1" y="0"/>
                <a:ext cx="3069830" cy="585262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32" name="FRAME DIFFERENCING"/>
              <p:cNvSpPr txBox="1"/>
              <p:nvPr/>
            </p:nvSpPr>
            <p:spPr>
              <a:xfrm>
                <a:off x="0" y="172487"/>
                <a:ext cx="3069828" cy="2402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>
                <a:lvl1pPr algn="ctr" defTabSz="711200">
                  <a:lnSpc>
                    <a:spcPct val="90000"/>
                  </a:lnSpc>
                  <a:spcBef>
                    <a:spcPts val="600"/>
                  </a:spcBef>
                  <a:defRPr b="1" sz="16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pPr/>
                <a:r>
                  <a:t>FRAME DIFFERENCING</a:t>
                </a:r>
              </a:p>
            </p:txBody>
          </p:sp>
        </p:grpSp>
        <p:grpSp>
          <p:nvGrpSpPr>
            <p:cNvPr id="136" name="Group"/>
            <p:cNvGrpSpPr/>
            <p:nvPr/>
          </p:nvGrpSpPr>
          <p:grpSpPr>
            <a:xfrm>
              <a:off x="4742089" y="731578"/>
              <a:ext cx="3106380" cy="585263"/>
              <a:chOff x="0" y="0"/>
              <a:chExt cx="3106378" cy="585261"/>
            </a:xfrm>
          </p:grpSpPr>
          <p:sp>
            <p:nvSpPr>
              <p:cNvPr id="134" name="Rectangle"/>
              <p:cNvSpPr/>
              <p:nvPr/>
            </p:nvSpPr>
            <p:spPr>
              <a:xfrm>
                <a:off x="-1" y="0"/>
                <a:ext cx="3106380" cy="585262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35" name="BACKGROUND SUBTRACTION"/>
              <p:cNvSpPr txBox="1"/>
              <p:nvPr/>
            </p:nvSpPr>
            <p:spPr>
              <a:xfrm>
                <a:off x="0" y="172487"/>
                <a:ext cx="3106379" cy="2402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>
                <a:lvl1pPr algn="ctr" defTabSz="711200">
                  <a:lnSpc>
                    <a:spcPct val="90000"/>
                  </a:lnSpc>
                  <a:spcBef>
                    <a:spcPts val="600"/>
                  </a:spcBef>
                  <a:defRPr b="1" sz="16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pPr/>
                <a:r>
                  <a:t>BACKGROUND SUBTRACTION</a:t>
                </a:r>
              </a:p>
            </p:txBody>
          </p:sp>
        </p:grpSp>
        <p:grpSp>
          <p:nvGrpSpPr>
            <p:cNvPr id="139" name="Group"/>
            <p:cNvGrpSpPr/>
            <p:nvPr/>
          </p:nvGrpSpPr>
          <p:grpSpPr>
            <a:xfrm>
              <a:off x="2193564" y="1463157"/>
              <a:ext cx="2124817" cy="585263"/>
              <a:chOff x="0" y="0"/>
              <a:chExt cx="2124816" cy="585261"/>
            </a:xfrm>
          </p:grpSpPr>
          <p:sp>
            <p:nvSpPr>
              <p:cNvPr id="137" name="Rectangle"/>
              <p:cNvSpPr/>
              <p:nvPr/>
            </p:nvSpPr>
            <p:spPr>
              <a:xfrm>
                <a:off x="-1" y="0"/>
                <a:ext cx="2124818" cy="585262"/>
              </a:xfrm>
              <a:prstGeom prst="rect">
                <a:avLst/>
              </a:pr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38" name="MOTION ESTIMATION"/>
              <p:cNvSpPr txBox="1"/>
              <p:nvPr/>
            </p:nvSpPr>
            <p:spPr>
              <a:xfrm>
                <a:off x="0" y="69185"/>
                <a:ext cx="2124817" cy="44689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>
                <a:lvl1pPr algn="ctr" defTabSz="711200">
                  <a:lnSpc>
                    <a:spcPct val="90000"/>
                  </a:lnSpc>
                  <a:spcBef>
                    <a:spcPts val="600"/>
                  </a:spcBef>
                  <a:defRPr b="1" sz="16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pPr/>
                <a:r>
                  <a:t>MOTION ESTIMATION</a:t>
                </a:r>
              </a:p>
            </p:txBody>
          </p:sp>
        </p:grpSp>
        <p:grpSp>
          <p:nvGrpSpPr>
            <p:cNvPr id="142" name="Group"/>
            <p:cNvGrpSpPr/>
            <p:nvPr/>
          </p:nvGrpSpPr>
          <p:grpSpPr>
            <a:xfrm>
              <a:off x="4702314" y="1463157"/>
              <a:ext cx="3127880" cy="585263"/>
              <a:chOff x="0" y="0"/>
              <a:chExt cx="3127879" cy="585261"/>
            </a:xfrm>
          </p:grpSpPr>
          <p:sp>
            <p:nvSpPr>
              <p:cNvPr id="140" name="Rectangle"/>
              <p:cNvSpPr/>
              <p:nvPr/>
            </p:nvSpPr>
            <p:spPr>
              <a:xfrm>
                <a:off x="-1" y="0"/>
                <a:ext cx="3127881" cy="585262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41" name="OPTICAL FLOW"/>
              <p:cNvSpPr txBox="1"/>
              <p:nvPr/>
            </p:nvSpPr>
            <p:spPr>
              <a:xfrm>
                <a:off x="0" y="172487"/>
                <a:ext cx="3127880" cy="2402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>
                <a:lvl1pPr algn="ctr" defTabSz="711200">
                  <a:lnSpc>
                    <a:spcPct val="90000"/>
                  </a:lnSpc>
                  <a:spcBef>
                    <a:spcPts val="600"/>
                  </a:spcBef>
                  <a:defRPr b="1" sz="16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pPr/>
                <a:r>
                  <a:t>OPTICAL FLOW</a:t>
                </a:r>
              </a:p>
            </p:txBody>
          </p:sp>
        </p:grpSp>
        <p:grpSp>
          <p:nvGrpSpPr>
            <p:cNvPr id="145" name="Group"/>
            <p:cNvGrpSpPr/>
            <p:nvPr/>
          </p:nvGrpSpPr>
          <p:grpSpPr>
            <a:xfrm>
              <a:off x="2193564" y="2194735"/>
              <a:ext cx="2146318" cy="585263"/>
              <a:chOff x="0" y="0"/>
              <a:chExt cx="2146317" cy="585261"/>
            </a:xfrm>
          </p:grpSpPr>
          <p:sp>
            <p:nvSpPr>
              <p:cNvPr id="143" name="Rectangle"/>
              <p:cNvSpPr/>
              <p:nvPr/>
            </p:nvSpPr>
            <p:spPr>
              <a:xfrm>
                <a:off x="-1" y="0"/>
                <a:ext cx="2146319" cy="585262"/>
              </a:xfrm>
              <a:prstGeom prst="rect">
                <a:avLst/>
              </a:pr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44" name="FEATURE BASED"/>
              <p:cNvSpPr txBox="1"/>
              <p:nvPr/>
            </p:nvSpPr>
            <p:spPr>
              <a:xfrm>
                <a:off x="0" y="172487"/>
                <a:ext cx="2146318" cy="2402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>
                <a:lvl1pPr algn="ctr" defTabSz="711200">
                  <a:lnSpc>
                    <a:spcPct val="90000"/>
                  </a:lnSpc>
                  <a:spcBef>
                    <a:spcPts val="600"/>
                  </a:spcBef>
                  <a:defRPr b="1" sz="16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pPr/>
                <a:r>
                  <a:t>FEATURE BASED</a:t>
                </a:r>
              </a:p>
            </p:txBody>
          </p:sp>
        </p:grpSp>
        <p:grpSp>
          <p:nvGrpSpPr>
            <p:cNvPr id="148" name="Group"/>
            <p:cNvGrpSpPr/>
            <p:nvPr/>
          </p:nvGrpSpPr>
          <p:grpSpPr>
            <a:xfrm>
              <a:off x="4723813" y="2194735"/>
              <a:ext cx="3124656" cy="585263"/>
              <a:chOff x="0" y="0"/>
              <a:chExt cx="3124654" cy="585261"/>
            </a:xfrm>
          </p:grpSpPr>
          <p:sp>
            <p:nvSpPr>
              <p:cNvPr id="146" name="Rectangle"/>
              <p:cNvSpPr/>
              <p:nvPr/>
            </p:nvSpPr>
            <p:spPr>
              <a:xfrm>
                <a:off x="-1" y="0"/>
                <a:ext cx="3124656" cy="585262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47" name="KEY POINT DETECTION…"/>
              <p:cNvSpPr txBox="1"/>
              <p:nvPr/>
            </p:nvSpPr>
            <p:spPr>
              <a:xfrm>
                <a:off x="0" y="26513"/>
                <a:ext cx="3124655" cy="53223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600"/>
                  </a:spcBef>
                  <a:defRPr b="1" sz="16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t>KEY POINT DETECTION</a:t>
                </a:r>
              </a:p>
              <a:p>
                <a:pPr algn="ctr" defTabSz="711200">
                  <a:lnSpc>
                    <a:spcPct val="90000"/>
                  </a:lnSpc>
                  <a:spcBef>
                    <a:spcPts val="600"/>
                  </a:spcBef>
                  <a:defRPr b="1" sz="16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t>(ORB/SIFT)</a:t>
                </a:r>
              </a:p>
            </p:txBody>
          </p:sp>
        </p:grpSp>
        <p:grpSp>
          <p:nvGrpSpPr>
            <p:cNvPr id="151" name="Group"/>
            <p:cNvGrpSpPr/>
            <p:nvPr/>
          </p:nvGrpSpPr>
          <p:grpSpPr>
            <a:xfrm>
              <a:off x="2193564" y="2926314"/>
              <a:ext cx="2139868" cy="585263"/>
              <a:chOff x="0" y="0"/>
              <a:chExt cx="2139867" cy="585261"/>
            </a:xfrm>
          </p:grpSpPr>
          <p:sp>
            <p:nvSpPr>
              <p:cNvPr id="149" name="Rectangle"/>
              <p:cNvSpPr/>
              <p:nvPr/>
            </p:nvSpPr>
            <p:spPr>
              <a:xfrm>
                <a:off x="-1" y="0"/>
                <a:ext cx="2139869" cy="585262"/>
              </a:xfrm>
              <a:prstGeom prst="rect">
                <a:avLst/>
              </a:pr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50" name="DEEP LEARNING"/>
              <p:cNvSpPr txBox="1"/>
              <p:nvPr/>
            </p:nvSpPr>
            <p:spPr>
              <a:xfrm>
                <a:off x="0" y="172487"/>
                <a:ext cx="2139868" cy="2402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>
                <a:lvl1pPr algn="ctr" defTabSz="711200">
                  <a:lnSpc>
                    <a:spcPct val="90000"/>
                  </a:lnSpc>
                  <a:spcBef>
                    <a:spcPts val="600"/>
                  </a:spcBef>
                  <a:defRPr b="1" sz="16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pPr/>
                <a:r>
                  <a:t>  DEEP LEARNING           </a:t>
                </a:r>
              </a:p>
            </p:txBody>
          </p:sp>
        </p:grpSp>
        <p:grpSp>
          <p:nvGrpSpPr>
            <p:cNvPr id="154" name="Group"/>
            <p:cNvGrpSpPr/>
            <p:nvPr/>
          </p:nvGrpSpPr>
          <p:grpSpPr>
            <a:xfrm>
              <a:off x="4717363" y="2926314"/>
              <a:ext cx="3112830" cy="585263"/>
              <a:chOff x="0" y="0"/>
              <a:chExt cx="3112828" cy="585261"/>
            </a:xfrm>
          </p:grpSpPr>
          <p:sp>
            <p:nvSpPr>
              <p:cNvPr id="152" name="Rectangle"/>
              <p:cNvSpPr/>
              <p:nvPr/>
            </p:nvSpPr>
            <p:spPr>
              <a:xfrm>
                <a:off x="-1" y="0"/>
                <a:ext cx="3112830" cy="585262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53" name="AI DETECTION…"/>
              <p:cNvSpPr txBox="1"/>
              <p:nvPr/>
            </p:nvSpPr>
            <p:spPr>
              <a:xfrm>
                <a:off x="0" y="26513"/>
                <a:ext cx="3112829" cy="53223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600"/>
                  </a:spcBef>
                  <a:defRPr b="1" sz="16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t>AI DETECTION</a:t>
                </a:r>
              </a:p>
              <a:p>
                <a:pPr algn="ctr" defTabSz="711200">
                  <a:lnSpc>
                    <a:spcPct val="90000"/>
                  </a:lnSpc>
                  <a:spcBef>
                    <a:spcPts val="600"/>
                  </a:spcBef>
                  <a:defRPr b="1" sz="16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t>(CNN/YOLO)</a:t>
                </a:r>
              </a:p>
            </p:txBody>
          </p:sp>
        </p:grpSp>
        <p:grpSp>
          <p:nvGrpSpPr>
            <p:cNvPr id="157" name="Group"/>
            <p:cNvGrpSpPr/>
            <p:nvPr/>
          </p:nvGrpSpPr>
          <p:grpSpPr>
            <a:xfrm>
              <a:off x="2176421" y="3661042"/>
              <a:ext cx="2216175" cy="585263"/>
              <a:chOff x="0" y="0"/>
              <a:chExt cx="2216173" cy="585261"/>
            </a:xfrm>
          </p:grpSpPr>
          <p:sp>
            <p:nvSpPr>
              <p:cNvPr id="155" name="Rectangle"/>
              <p:cNvSpPr/>
              <p:nvPr/>
            </p:nvSpPr>
            <p:spPr>
              <a:xfrm>
                <a:off x="-1" y="0"/>
                <a:ext cx="2216175" cy="585262"/>
              </a:xfrm>
              <a:prstGeom prst="rect">
                <a:avLst/>
              </a:pr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56" name="HYBRID METHODS"/>
              <p:cNvSpPr txBox="1"/>
              <p:nvPr/>
            </p:nvSpPr>
            <p:spPr>
              <a:xfrm>
                <a:off x="0" y="172487"/>
                <a:ext cx="2216174" cy="2402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>
                <a:lvl1pPr algn="ctr" defTabSz="711200">
                  <a:lnSpc>
                    <a:spcPct val="90000"/>
                  </a:lnSpc>
                  <a:spcBef>
                    <a:spcPts val="600"/>
                  </a:spcBef>
                  <a:defRPr b="1" sz="16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pPr/>
                <a:r>
                  <a:t>HYBRID METHODS</a:t>
                </a:r>
              </a:p>
            </p:txBody>
          </p:sp>
        </p:grpSp>
        <p:grpSp>
          <p:nvGrpSpPr>
            <p:cNvPr id="160" name="Group"/>
            <p:cNvGrpSpPr/>
            <p:nvPr/>
          </p:nvGrpSpPr>
          <p:grpSpPr>
            <a:xfrm>
              <a:off x="4729669" y="3661042"/>
              <a:ext cx="3036504" cy="585263"/>
              <a:chOff x="0" y="0"/>
              <a:chExt cx="3036503" cy="585261"/>
            </a:xfrm>
          </p:grpSpPr>
          <p:sp>
            <p:nvSpPr>
              <p:cNvPr id="158" name="Rectangle"/>
              <p:cNvSpPr/>
              <p:nvPr/>
            </p:nvSpPr>
            <p:spPr>
              <a:xfrm>
                <a:off x="-1" y="0"/>
                <a:ext cx="3036505" cy="585262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59" name="COMBINED APPROACHES"/>
              <p:cNvSpPr txBox="1"/>
              <p:nvPr/>
            </p:nvSpPr>
            <p:spPr>
              <a:xfrm>
                <a:off x="0" y="172487"/>
                <a:ext cx="3036504" cy="2402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>
                <a:lvl1pPr algn="ctr" defTabSz="711200">
                  <a:lnSpc>
                    <a:spcPct val="90000"/>
                  </a:lnSpc>
                  <a:spcBef>
                    <a:spcPts val="600"/>
                  </a:spcBef>
                  <a:defRPr b="1" sz="16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pPr/>
                <a:r>
                  <a:t>COMBINED APPROACHES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Placeholder 3"/>
          <p:cNvSpPr txBox="1"/>
          <p:nvPr>
            <p:ph type="body" sz="quarter" idx="1"/>
          </p:nvPr>
        </p:nvSpPr>
        <p:spPr>
          <a:xfrm>
            <a:off x="3109291" y="451525"/>
            <a:ext cx="5950687" cy="798416"/>
          </a:xfrm>
          <a:prstGeom prst="rect">
            <a:avLst/>
          </a:prstGeom>
        </p:spPr>
        <p:txBody>
          <a:bodyPr/>
          <a:lstStyle>
            <a:lvl1pPr algn="ctr" defTabSz="859536">
              <a:spcBef>
                <a:spcPts val="900"/>
              </a:spcBef>
              <a:defRPr b="1" sz="5076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CHALLENGES </a:t>
            </a:r>
          </a:p>
        </p:txBody>
      </p:sp>
      <p:pic>
        <p:nvPicPr>
          <p:cNvPr id="16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20143" y="155406"/>
            <a:ext cx="1581151" cy="1390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17" descr="Picture 17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3284" y="1109754"/>
            <a:ext cx="2533227" cy="149391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21" descr="Picture 21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5888" y="4843663"/>
            <a:ext cx="2613888" cy="138302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extBox 22"/>
          <p:cNvSpPr txBox="1"/>
          <p:nvPr/>
        </p:nvSpPr>
        <p:spPr>
          <a:xfrm>
            <a:off x="877087" y="2673237"/>
            <a:ext cx="2105622" cy="225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FIG: DYNAMIC ENVIRONMENTS</a:t>
            </a:r>
          </a:p>
        </p:txBody>
      </p:sp>
      <p:sp>
        <p:nvSpPr>
          <p:cNvPr id="168" name="TextBox 23"/>
          <p:cNvSpPr txBox="1"/>
          <p:nvPr/>
        </p:nvSpPr>
        <p:spPr>
          <a:xfrm>
            <a:off x="742092" y="4590653"/>
            <a:ext cx="2321481" cy="225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</a:t>
            </a:r>
            <a:r>
              <a:rPr sz="1000"/>
              <a:t>FIG: BINARY THRESHOLDING</a:t>
            </a:r>
          </a:p>
        </p:txBody>
      </p:sp>
      <p:sp>
        <p:nvSpPr>
          <p:cNvPr id="169" name="TextBox 24"/>
          <p:cNvSpPr txBox="1"/>
          <p:nvPr/>
        </p:nvSpPr>
        <p:spPr>
          <a:xfrm>
            <a:off x="921537" y="6253947"/>
            <a:ext cx="2016722" cy="225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FIG: SENSOR VARIABILITY</a:t>
            </a:r>
          </a:p>
        </p:txBody>
      </p:sp>
      <p:pic>
        <p:nvPicPr>
          <p:cNvPr id="170" name="Picture 28" descr="Picture 28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746047" y="4083177"/>
            <a:ext cx="2533227" cy="1594833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TextBox 30"/>
          <p:cNvSpPr txBox="1"/>
          <p:nvPr/>
        </p:nvSpPr>
        <p:spPr>
          <a:xfrm>
            <a:off x="6906339" y="3205563"/>
            <a:ext cx="2212644" cy="225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FIG:CONTINUOUS BEEP ALERTS</a:t>
            </a:r>
          </a:p>
        </p:txBody>
      </p:sp>
      <p:sp>
        <p:nvSpPr>
          <p:cNvPr id="172" name="TextBox 32"/>
          <p:cNvSpPr txBox="1"/>
          <p:nvPr/>
        </p:nvSpPr>
        <p:spPr>
          <a:xfrm>
            <a:off x="6762629" y="5708489"/>
            <a:ext cx="2500064" cy="225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FIG:OCCULSION AND TRACEABILITY</a:t>
            </a:r>
          </a:p>
        </p:txBody>
      </p:sp>
      <p:sp>
        <p:nvSpPr>
          <p:cNvPr id="173" name="TextBox 33"/>
          <p:cNvSpPr txBox="1"/>
          <p:nvPr/>
        </p:nvSpPr>
        <p:spPr>
          <a:xfrm>
            <a:off x="3454887" y="1546056"/>
            <a:ext cx="2533227" cy="1107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SzPct val="100000"/>
              <a:buChar char="❑"/>
              <a:defRPr sz="1400">
                <a:latin typeface="Cambria Bold"/>
                <a:ea typeface="Cambria Bold"/>
                <a:cs typeface="Cambria Bold"/>
                <a:sym typeface="Cambria Bold"/>
              </a:defRPr>
            </a:pPr>
            <a:r>
              <a:t>Hard to separate moving objects from changing background</a:t>
            </a:r>
          </a:p>
          <a:p>
            <a:pPr marL="171450" indent="-171450">
              <a:buSzPct val="100000"/>
              <a:buChar char="❑"/>
              <a:defRPr sz="1400">
                <a:latin typeface="Cambria Bold"/>
                <a:ea typeface="Cambria Bold"/>
                <a:cs typeface="Cambria Bold"/>
                <a:sym typeface="Cambria Bold"/>
              </a:defRPr>
            </a:pPr>
            <a:r>
              <a:t>Problems: shadows, lighting changes, noise</a:t>
            </a:r>
          </a:p>
        </p:txBody>
      </p:sp>
      <p:sp>
        <p:nvSpPr>
          <p:cNvPr id="174" name="TextBox 34"/>
          <p:cNvSpPr txBox="1"/>
          <p:nvPr/>
        </p:nvSpPr>
        <p:spPr>
          <a:xfrm>
            <a:off x="9506176" y="4705691"/>
            <a:ext cx="2595393" cy="904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Char char="❑"/>
              <a:defRPr sz="1400">
                <a:latin typeface="Cambria Bold"/>
                <a:ea typeface="Cambria Bold"/>
                <a:cs typeface="Cambria Bold"/>
                <a:sym typeface="Cambria Bold"/>
              </a:defRPr>
            </a:pPr>
            <a:r>
              <a:t>Objects get hidden by others</a:t>
            </a:r>
          </a:p>
          <a:p>
            <a:pPr marL="285750" indent="-285750">
              <a:buSzPct val="100000"/>
              <a:buChar char="❑"/>
              <a:defRPr sz="1400">
                <a:latin typeface="Cambria Bold"/>
                <a:ea typeface="Cambria Bold"/>
                <a:cs typeface="Cambria Bold"/>
                <a:sym typeface="Cambria Bold"/>
              </a:defRPr>
            </a:pPr>
            <a:r>
              <a:t>Difficult to track continuously</a:t>
            </a:r>
          </a:p>
        </p:txBody>
      </p:sp>
      <p:sp>
        <p:nvSpPr>
          <p:cNvPr id="175" name="TextBox 36"/>
          <p:cNvSpPr txBox="1"/>
          <p:nvPr/>
        </p:nvSpPr>
        <p:spPr>
          <a:xfrm>
            <a:off x="3454887" y="3429000"/>
            <a:ext cx="2675926" cy="1107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Char char="❑"/>
              <a:defRPr sz="1400">
                <a:latin typeface="Cambria Bold"/>
                <a:ea typeface="Cambria Bold"/>
                <a:cs typeface="Cambria Bold"/>
                <a:sym typeface="Cambria Bold"/>
              </a:defRPr>
            </a:pPr>
            <a:r>
              <a:t>Small pixel changes (noise, lighting flicker) can trigger false alarms</a:t>
            </a:r>
          </a:p>
          <a:p>
            <a:pPr marL="285750" indent="-285750">
              <a:buSzPct val="100000"/>
              <a:buChar char="❑"/>
              <a:defRPr sz="1400">
                <a:latin typeface="Cambria Bold"/>
                <a:ea typeface="Cambria Bold"/>
                <a:cs typeface="Cambria Bold"/>
                <a:sym typeface="Cambria Bold"/>
              </a:defRPr>
            </a:pPr>
            <a:r>
              <a:t>Fixed threshold causes false detections</a:t>
            </a:r>
          </a:p>
        </p:txBody>
      </p:sp>
      <p:sp>
        <p:nvSpPr>
          <p:cNvPr id="176" name="TextBox 38"/>
          <p:cNvSpPr txBox="1"/>
          <p:nvPr/>
        </p:nvSpPr>
        <p:spPr>
          <a:xfrm>
            <a:off x="3549837" y="5150887"/>
            <a:ext cx="2301957" cy="904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Char char="❑"/>
              <a:defRPr sz="1400">
                <a:latin typeface="Cambria Bold"/>
                <a:ea typeface="Cambria Bold"/>
                <a:cs typeface="Cambria Bold"/>
                <a:sym typeface="Cambria Bold"/>
              </a:defRPr>
            </a:pPr>
            <a:r>
              <a:t>Day/night and weather affect detection</a:t>
            </a:r>
          </a:p>
          <a:p>
            <a:pPr marL="285750" indent="-285750">
              <a:buSzPct val="100000"/>
              <a:buChar char="❑"/>
              <a:defRPr sz="1400">
                <a:latin typeface="Cambria Bold"/>
                <a:ea typeface="Cambria Bold"/>
                <a:cs typeface="Cambria Bold"/>
                <a:sym typeface="Cambria Bold"/>
              </a:defRPr>
            </a:pPr>
            <a:r>
              <a:t>Camera noise and blur reduce accuracy</a:t>
            </a:r>
          </a:p>
        </p:txBody>
      </p:sp>
      <p:sp>
        <p:nvSpPr>
          <p:cNvPr id="177" name="TextBox 40"/>
          <p:cNvSpPr txBox="1"/>
          <p:nvPr/>
        </p:nvSpPr>
        <p:spPr>
          <a:xfrm>
            <a:off x="9451910" y="2131041"/>
            <a:ext cx="2359266" cy="904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Char char="❑"/>
              <a:defRPr sz="1400">
                <a:latin typeface="Cambria Bold"/>
                <a:ea typeface="Cambria Bold"/>
                <a:cs typeface="Cambria Bold"/>
                <a:sym typeface="Cambria Bold"/>
              </a:defRPr>
            </a:pPr>
            <a:r>
              <a:t>Continuous beep alerts can be distracting</a:t>
            </a:r>
          </a:p>
          <a:p>
            <a:pPr marL="285750" indent="-285750">
              <a:buSzPct val="100000"/>
              <a:buChar char="❑"/>
              <a:defRPr sz="1400">
                <a:latin typeface="Cambria Bold"/>
                <a:ea typeface="Cambria Bold"/>
                <a:cs typeface="Cambria Bold"/>
                <a:sym typeface="Cambria Bold"/>
              </a:defRPr>
            </a:pPr>
            <a:r>
              <a:t>User control is needed to stop the alert</a:t>
            </a:r>
          </a:p>
        </p:txBody>
      </p:sp>
      <p:pic>
        <p:nvPicPr>
          <p:cNvPr id="178" name="Picture 7" descr="Picture 7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792631" y="1453403"/>
            <a:ext cx="2440060" cy="1696807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asted-movie.png" descr="pasted-movie.png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41680" y="2968555"/>
            <a:ext cx="2376436" cy="15948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70983" y="231106"/>
            <a:ext cx="1581151" cy="139065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6" name="Diagram 3"/>
          <p:cNvGrpSpPr/>
          <p:nvPr/>
        </p:nvGrpSpPr>
        <p:grpSpPr>
          <a:xfrm>
            <a:off x="738992" y="3156194"/>
            <a:ext cx="10544683" cy="1607831"/>
            <a:chOff x="0" y="0"/>
            <a:chExt cx="10544680" cy="1607830"/>
          </a:xfrm>
        </p:grpSpPr>
        <p:sp>
          <p:nvSpPr>
            <p:cNvPr id="182" name="Rounded Rectangle"/>
            <p:cNvSpPr/>
            <p:nvPr/>
          </p:nvSpPr>
          <p:spPr>
            <a:xfrm>
              <a:off x="0" y="13046"/>
              <a:ext cx="1224584" cy="996740"/>
            </a:xfrm>
            <a:prstGeom prst="roundRect">
              <a:avLst>
                <a:gd name="adj" fmla="val 10000"/>
              </a:avLst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85" name="Group"/>
            <p:cNvGrpSpPr/>
            <p:nvPr/>
          </p:nvGrpSpPr>
          <p:grpSpPr>
            <a:xfrm>
              <a:off x="276182" y="611091"/>
              <a:ext cx="996739" cy="996740"/>
              <a:chOff x="0" y="0"/>
              <a:chExt cx="996738" cy="996738"/>
            </a:xfrm>
          </p:grpSpPr>
          <p:sp>
            <p:nvSpPr>
              <p:cNvPr id="183" name="Rounded Rectangle"/>
              <p:cNvSpPr/>
              <p:nvPr/>
            </p:nvSpPr>
            <p:spPr>
              <a:xfrm>
                <a:off x="0" y="0"/>
                <a:ext cx="996739" cy="996739"/>
              </a:xfrm>
              <a:prstGeom prst="roundRect">
                <a:avLst>
                  <a:gd name="adj" fmla="val 10000"/>
                </a:avLst>
              </a:prstGeom>
              <a:solidFill>
                <a:srgbClr val="0F465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4" name="INPUT VIDEO"/>
              <p:cNvSpPr txBox="1"/>
              <p:nvPr/>
            </p:nvSpPr>
            <p:spPr>
              <a:xfrm>
                <a:off x="29192" y="224049"/>
                <a:ext cx="938354" cy="5486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72389" tIns="72389" rIns="72389" bIns="72389" numCol="1" anchor="ctr">
                <a:spAutoFit/>
              </a:bodyPr>
              <a:lstStyle/>
              <a:p>
                <a:pPr algn="ctr" defTabSz="844550">
                  <a:lnSpc>
                    <a:spcPct val="90000"/>
                  </a:lnSpc>
                  <a:spcBef>
                    <a:spcPts val="700"/>
                  </a:spcBef>
                  <a:defRPr sz="1900">
                    <a:latin typeface="Cambria Bold"/>
                    <a:ea typeface="Cambria Bold"/>
                    <a:cs typeface="Cambria Bold"/>
                    <a:sym typeface="Cambria Bold"/>
                  </a:defRPr>
                </a:pPr>
                <a:r>
                  <a:t>  </a:t>
                </a:r>
                <a:r>
                  <a:rPr sz="1000"/>
                  <a:t>INPUT VIDEO</a:t>
                </a:r>
              </a:p>
            </p:txBody>
          </p:sp>
        </p:grpSp>
        <p:sp>
          <p:nvSpPr>
            <p:cNvPr id="186" name="Arrow"/>
            <p:cNvSpPr/>
            <p:nvPr/>
          </p:nvSpPr>
          <p:spPr>
            <a:xfrm rot="21570831">
              <a:off x="1374044" y="384567"/>
              <a:ext cx="149469" cy="23950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45C7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ts val="700"/>
                </a:spcBef>
                <a:defRPr sz="1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7" name="Rounded Rectangle"/>
            <p:cNvSpPr/>
            <p:nvPr/>
          </p:nvSpPr>
          <p:spPr>
            <a:xfrm>
              <a:off x="1651620" y="0"/>
              <a:ext cx="996740" cy="996739"/>
            </a:xfrm>
            <a:prstGeom prst="roundRect">
              <a:avLst>
                <a:gd name="adj" fmla="val 10000"/>
              </a:avLst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90" name="Group"/>
            <p:cNvGrpSpPr/>
            <p:nvPr/>
          </p:nvGrpSpPr>
          <p:grpSpPr>
            <a:xfrm>
              <a:off x="1821475" y="611091"/>
              <a:ext cx="996740" cy="996740"/>
              <a:chOff x="0" y="0"/>
              <a:chExt cx="996738" cy="996738"/>
            </a:xfrm>
          </p:grpSpPr>
          <p:sp>
            <p:nvSpPr>
              <p:cNvPr id="188" name="Rounded Rectangle"/>
              <p:cNvSpPr/>
              <p:nvPr/>
            </p:nvSpPr>
            <p:spPr>
              <a:xfrm>
                <a:off x="0" y="0"/>
                <a:ext cx="996739" cy="996739"/>
              </a:xfrm>
              <a:prstGeom prst="roundRect">
                <a:avLst>
                  <a:gd name="adj" fmla="val 10000"/>
                </a:avLst>
              </a:prstGeom>
              <a:solidFill>
                <a:srgbClr val="2B6D9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66725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9" name="FRAME…"/>
              <p:cNvSpPr txBox="1"/>
              <p:nvPr/>
            </p:nvSpPr>
            <p:spPr>
              <a:xfrm>
                <a:off x="29192" y="168423"/>
                <a:ext cx="938354" cy="65989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1909" tIns="41909" rIns="41909" bIns="41909" numCol="1" anchor="ctr">
                <a:spAutoFit/>
              </a:bodyPr>
              <a:lstStyle/>
              <a:p>
                <a:pPr algn="ctr" defTabSz="466725">
                  <a:lnSpc>
                    <a:spcPct val="90000"/>
                  </a:lnSpc>
                  <a:spcBef>
                    <a:spcPts val="700"/>
                  </a:spcBef>
                  <a:defRPr sz="1000">
                    <a:latin typeface="Cambria Bold"/>
                    <a:ea typeface="Cambria Bold"/>
                    <a:cs typeface="Cambria Bold"/>
                    <a:sym typeface="Cambria Bold"/>
                  </a:defRPr>
                </a:pPr>
              </a:p>
              <a:p>
                <a:pPr algn="ctr" defTabSz="466725">
                  <a:lnSpc>
                    <a:spcPct val="90000"/>
                  </a:lnSpc>
                  <a:spcBef>
                    <a:spcPts val="400"/>
                  </a:spcBef>
                  <a:defRPr sz="1000">
                    <a:latin typeface="Cambria Bold"/>
                    <a:ea typeface="Cambria Bold"/>
                    <a:cs typeface="Cambria Bold"/>
                    <a:sym typeface="Cambria Bold"/>
                  </a:defRPr>
                </a:pPr>
                <a:r>
                  <a:t>FRAME</a:t>
                </a:r>
                <a:endParaRPr>
                  <a:solidFill>
                    <a:srgbClr val="FFFFFF"/>
                  </a:solidFill>
                </a:endParaRPr>
              </a:p>
              <a:p>
                <a:pPr algn="ctr" defTabSz="466725">
                  <a:lnSpc>
                    <a:spcPct val="90000"/>
                  </a:lnSpc>
                  <a:spcBef>
                    <a:spcPts val="400"/>
                  </a:spcBef>
                  <a:defRPr sz="1000">
                    <a:latin typeface="Cambria Bold"/>
                    <a:ea typeface="Cambria Bold"/>
                    <a:cs typeface="Cambria Bold"/>
                    <a:sym typeface="Cambria Bold"/>
                  </a:defRPr>
                </a:pPr>
                <a:r>
                  <a:t>EXTRACTION</a:t>
                </a:r>
              </a:p>
            </p:txBody>
          </p:sp>
        </p:grpSp>
        <p:sp>
          <p:nvSpPr>
            <p:cNvPr id="191" name="Arrow"/>
            <p:cNvSpPr/>
            <p:nvPr/>
          </p:nvSpPr>
          <p:spPr>
            <a:xfrm rot="28883">
              <a:off x="2843008" y="385259"/>
              <a:ext cx="194660" cy="23950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3682A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ts val="700"/>
                </a:spcBef>
                <a:defRPr sz="1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2" name="Rounded Rectangle"/>
            <p:cNvSpPr/>
            <p:nvPr/>
          </p:nvSpPr>
          <p:spPr>
            <a:xfrm>
              <a:off x="3204509" y="13046"/>
              <a:ext cx="996740" cy="996740"/>
            </a:xfrm>
            <a:prstGeom prst="roundRect">
              <a:avLst>
                <a:gd name="adj" fmla="val 10000"/>
              </a:avLst>
            </a:prstGeom>
            <a:blipFill rotWithShape="1">
              <a:blip r:embed="rId5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95" name="Group"/>
            <p:cNvGrpSpPr/>
            <p:nvPr/>
          </p:nvGrpSpPr>
          <p:grpSpPr>
            <a:xfrm>
              <a:off x="3366768" y="611091"/>
              <a:ext cx="996740" cy="996740"/>
              <a:chOff x="0" y="0"/>
              <a:chExt cx="996738" cy="996738"/>
            </a:xfrm>
          </p:grpSpPr>
          <p:sp>
            <p:nvSpPr>
              <p:cNvPr id="193" name="Rounded Rectangle"/>
              <p:cNvSpPr/>
              <p:nvPr/>
            </p:nvSpPr>
            <p:spPr>
              <a:xfrm>
                <a:off x="0" y="0"/>
                <a:ext cx="996739" cy="996739"/>
              </a:xfrm>
              <a:prstGeom prst="roundRect">
                <a:avLst>
                  <a:gd name="adj" fmla="val 10000"/>
                </a:avLst>
              </a:prstGeom>
              <a:solidFill>
                <a:srgbClr val="588EB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66725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94" name="PREPROCESS"/>
              <p:cNvSpPr txBox="1"/>
              <p:nvPr/>
            </p:nvSpPr>
            <p:spPr>
              <a:xfrm>
                <a:off x="29192" y="263673"/>
                <a:ext cx="938354" cy="46939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1909" tIns="41909" rIns="41909" bIns="41909" numCol="1" anchor="ctr">
                <a:spAutoFit/>
              </a:bodyPr>
              <a:lstStyle/>
              <a:p>
                <a:pPr algn="ctr" defTabSz="466725">
                  <a:lnSpc>
                    <a:spcPct val="90000"/>
                  </a:lnSpc>
                  <a:spcBef>
                    <a:spcPts val="700"/>
                  </a:spcBef>
                  <a:defRPr sz="1000">
                    <a:latin typeface="Cambria Bold"/>
                    <a:ea typeface="Cambria Bold"/>
                    <a:cs typeface="Cambria Bold"/>
                    <a:sym typeface="Cambria Bold"/>
                  </a:defRPr>
                </a:pPr>
              </a:p>
              <a:p>
                <a:pPr algn="ctr" defTabSz="466725">
                  <a:lnSpc>
                    <a:spcPct val="90000"/>
                  </a:lnSpc>
                  <a:spcBef>
                    <a:spcPts val="400"/>
                  </a:spcBef>
                  <a:defRPr sz="1000">
                    <a:latin typeface="Cambria Bold"/>
                    <a:ea typeface="Cambria Bold"/>
                    <a:cs typeface="Cambria Bold"/>
                    <a:sym typeface="Cambria Bold"/>
                  </a:defRPr>
                </a:pPr>
                <a:r>
                  <a:t>PREPROCESS</a:t>
                </a:r>
              </a:p>
            </p:txBody>
          </p:sp>
        </p:grpSp>
        <p:sp>
          <p:nvSpPr>
            <p:cNvPr id="196" name="Arrow"/>
            <p:cNvSpPr/>
            <p:nvPr/>
          </p:nvSpPr>
          <p:spPr>
            <a:xfrm>
              <a:off x="4393241" y="391666"/>
              <a:ext cx="191994" cy="23950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7AA0B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ts val="700"/>
                </a:spcBef>
                <a:defRPr sz="1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7" name="Rounded Rectangle"/>
            <p:cNvSpPr/>
            <p:nvPr/>
          </p:nvSpPr>
          <p:spPr>
            <a:xfrm>
              <a:off x="4749801" y="13046"/>
              <a:ext cx="996740" cy="996740"/>
            </a:xfrm>
            <a:prstGeom prst="roundRect">
              <a:avLst>
                <a:gd name="adj" fmla="val 10000"/>
              </a:avLst>
            </a:prstGeom>
            <a:blipFill rotWithShape="1">
              <a:blip r:embed="rId6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200" name="Group"/>
            <p:cNvGrpSpPr/>
            <p:nvPr/>
          </p:nvGrpSpPr>
          <p:grpSpPr>
            <a:xfrm>
              <a:off x="4912061" y="611091"/>
              <a:ext cx="996740" cy="996740"/>
              <a:chOff x="0" y="0"/>
              <a:chExt cx="996738" cy="996738"/>
            </a:xfrm>
          </p:grpSpPr>
          <p:sp>
            <p:nvSpPr>
              <p:cNvPr id="198" name="Rounded Rectangle"/>
              <p:cNvSpPr/>
              <p:nvPr/>
            </p:nvSpPr>
            <p:spPr>
              <a:xfrm>
                <a:off x="0" y="0"/>
                <a:ext cx="996739" cy="996739"/>
              </a:xfrm>
              <a:prstGeom prst="roundRect">
                <a:avLst>
                  <a:gd name="adj" fmla="val 10000"/>
                </a:avLst>
              </a:prstGeom>
              <a:solidFill>
                <a:srgbClr val="9CAEB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66725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99" name="MOTION DETECTION"/>
              <p:cNvSpPr txBox="1"/>
              <p:nvPr/>
            </p:nvSpPr>
            <p:spPr>
              <a:xfrm>
                <a:off x="29193" y="195093"/>
                <a:ext cx="938354" cy="606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1909" tIns="41909" rIns="41909" bIns="41909" numCol="1" anchor="ctr">
                <a:spAutoFit/>
              </a:bodyPr>
              <a:lstStyle/>
              <a:p>
                <a:pPr algn="ctr" defTabSz="466725">
                  <a:lnSpc>
                    <a:spcPct val="90000"/>
                  </a:lnSpc>
                  <a:spcBef>
                    <a:spcPts val="700"/>
                  </a:spcBef>
                  <a:defRPr sz="1000">
                    <a:latin typeface="Cambria Bold"/>
                    <a:ea typeface="Cambria Bold"/>
                    <a:cs typeface="Cambria Bold"/>
                    <a:sym typeface="Cambria Bold"/>
                  </a:defRPr>
                </a:pPr>
              </a:p>
              <a:p>
                <a:pPr algn="ctr" defTabSz="466725">
                  <a:lnSpc>
                    <a:spcPct val="90000"/>
                  </a:lnSpc>
                  <a:spcBef>
                    <a:spcPts val="400"/>
                  </a:spcBef>
                  <a:defRPr sz="1000">
                    <a:latin typeface="Cambria Bold"/>
                    <a:ea typeface="Cambria Bold"/>
                    <a:cs typeface="Cambria Bold"/>
                    <a:sym typeface="Cambria Bold"/>
                  </a:defRPr>
                </a:pPr>
                <a:r>
                  <a:t>MOTION DETECTION</a:t>
                </a:r>
              </a:p>
            </p:txBody>
          </p:sp>
        </p:grpSp>
        <p:sp>
          <p:nvSpPr>
            <p:cNvPr id="201" name="Arrow"/>
            <p:cNvSpPr/>
            <p:nvPr/>
          </p:nvSpPr>
          <p:spPr>
            <a:xfrm>
              <a:off x="5938534" y="391666"/>
              <a:ext cx="191994" cy="23950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BDC5C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ts val="700"/>
                </a:spcBef>
                <a:defRPr sz="1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2" name="Rounded Rectangle"/>
            <p:cNvSpPr/>
            <p:nvPr/>
          </p:nvSpPr>
          <p:spPr>
            <a:xfrm>
              <a:off x="6295094" y="13046"/>
              <a:ext cx="996740" cy="996740"/>
            </a:xfrm>
            <a:prstGeom prst="roundRect">
              <a:avLst>
                <a:gd name="adj" fmla="val 10000"/>
              </a:avLst>
            </a:prstGeom>
            <a:blipFill rotWithShape="1">
              <a:blip r:embed="rId7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205" name="Group"/>
            <p:cNvGrpSpPr/>
            <p:nvPr/>
          </p:nvGrpSpPr>
          <p:grpSpPr>
            <a:xfrm>
              <a:off x="6457355" y="611091"/>
              <a:ext cx="996740" cy="996740"/>
              <a:chOff x="0" y="0"/>
              <a:chExt cx="996738" cy="996738"/>
            </a:xfrm>
          </p:grpSpPr>
          <p:sp>
            <p:nvSpPr>
              <p:cNvPr id="203" name="Rounded Rectangle"/>
              <p:cNvSpPr/>
              <p:nvPr/>
            </p:nvSpPr>
            <p:spPr>
              <a:xfrm>
                <a:off x="0" y="0"/>
                <a:ext cx="996739" cy="996739"/>
              </a:xfrm>
              <a:prstGeom prst="roundRect">
                <a:avLst>
                  <a:gd name="adj" fmla="val 10000"/>
                </a:avLst>
              </a:prstGeom>
              <a:solidFill>
                <a:srgbClr val="9CAEB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66725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04" name="EDGE DETECTION"/>
              <p:cNvSpPr txBox="1"/>
              <p:nvPr/>
            </p:nvSpPr>
            <p:spPr>
              <a:xfrm>
                <a:off x="29192" y="195093"/>
                <a:ext cx="938354" cy="606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1909" tIns="41909" rIns="41909" bIns="41909" numCol="1" anchor="ctr">
                <a:spAutoFit/>
              </a:bodyPr>
              <a:lstStyle/>
              <a:p>
                <a:pPr algn="ctr" defTabSz="466725">
                  <a:lnSpc>
                    <a:spcPct val="90000"/>
                  </a:lnSpc>
                  <a:spcBef>
                    <a:spcPts val="700"/>
                  </a:spcBef>
                  <a:defRPr sz="1000">
                    <a:latin typeface="Cambria Bold"/>
                    <a:ea typeface="Cambria Bold"/>
                    <a:cs typeface="Cambria Bold"/>
                    <a:sym typeface="Cambria Bold"/>
                  </a:defRPr>
                </a:pPr>
              </a:p>
              <a:p>
                <a:pPr algn="ctr" defTabSz="466725">
                  <a:lnSpc>
                    <a:spcPct val="90000"/>
                  </a:lnSpc>
                  <a:spcBef>
                    <a:spcPts val="400"/>
                  </a:spcBef>
                  <a:defRPr sz="1000">
                    <a:latin typeface="Cambria Bold"/>
                    <a:ea typeface="Cambria Bold"/>
                    <a:cs typeface="Cambria Bold"/>
                    <a:sym typeface="Cambria Bold"/>
                  </a:defRPr>
                </a:pPr>
                <a:r>
                  <a:t>EDGE DETECTION</a:t>
                </a:r>
              </a:p>
            </p:txBody>
          </p:sp>
        </p:grpSp>
        <p:sp>
          <p:nvSpPr>
            <p:cNvPr id="206" name="Arrow"/>
            <p:cNvSpPr/>
            <p:nvPr/>
          </p:nvSpPr>
          <p:spPr>
            <a:xfrm>
              <a:off x="7483829" y="391666"/>
              <a:ext cx="191994" cy="23950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7AA0B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ts val="700"/>
                </a:spcBef>
                <a:defRPr sz="1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7" name="Rounded Rectangle"/>
            <p:cNvSpPr/>
            <p:nvPr/>
          </p:nvSpPr>
          <p:spPr>
            <a:xfrm>
              <a:off x="7840388" y="13046"/>
              <a:ext cx="996740" cy="996740"/>
            </a:xfrm>
            <a:prstGeom prst="roundRect">
              <a:avLst>
                <a:gd name="adj" fmla="val 10000"/>
              </a:avLst>
            </a:prstGeom>
            <a:blipFill rotWithShape="1">
              <a:blip r:embed="rId8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210" name="Group"/>
            <p:cNvGrpSpPr/>
            <p:nvPr/>
          </p:nvGrpSpPr>
          <p:grpSpPr>
            <a:xfrm>
              <a:off x="8002648" y="611091"/>
              <a:ext cx="996740" cy="996740"/>
              <a:chOff x="0" y="0"/>
              <a:chExt cx="996738" cy="996738"/>
            </a:xfrm>
          </p:grpSpPr>
          <p:sp>
            <p:nvSpPr>
              <p:cNvPr id="208" name="Rounded Rectangle"/>
              <p:cNvSpPr/>
              <p:nvPr/>
            </p:nvSpPr>
            <p:spPr>
              <a:xfrm>
                <a:off x="0" y="0"/>
                <a:ext cx="996739" cy="996739"/>
              </a:xfrm>
              <a:prstGeom prst="roundRect">
                <a:avLst>
                  <a:gd name="adj" fmla="val 10000"/>
                </a:avLst>
              </a:prstGeom>
              <a:solidFill>
                <a:srgbClr val="588EB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66725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09" name="BEEP ALERTS"/>
              <p:cNvSpPr txBox="1"/>
              <p:nvPr/>
            </p:nvSpPr>
            <p:spPr>
              <a:xfrm>
                <a:off x="29192" y="278166"/>
                <a:ext cx="938354" cy="4404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1909" tIns="41909" rIns="41909" bIns="41909" numCol="1" anchor="ctr">
                <a:spAutoFit/>
              </a:bodyPr>
              <a:lstStyle/>
              <a:p>
                <a:pPr algn="ctr" defTabSz="466725">
                  <a:lnSpc>
                    <a:spcPct val="90000"/>
                  </a:lnSpc>
                  <a:spcBef>
                    <a:spcPts val="700"/>
                  </a:spcBef>
                  <a:defRPr b="1" sz="1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algn="ctr" defTabSz="466725">
                  <a:lnSpc>
                    <a:spcPct val="90000"/>
                  </a:lnSpc>
                  <a:spcBef>
                    <a:spcPts val="400"/>
                  </a:spcBef>
                  <a:defRPr b="1" sz="1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t>BEEP ALERTS</a:t>
                </a:r>
              </a:p>
            </p:txBody>
          </p:sp>
        </p:grpSp>
        <p:sp>
          <p:nvSpPr>
            <p:cNvPr id="211" name="Arrow"/>
            <p:cNvSpPr/>
            <p:nvPr/>
          </p:nvSpPr>
          <p:spPr>
            <a:xfrm>
              <a:off x="9029121" y="391666"/>
              <a:ext cx="191994" cy="23950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3682A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ts val="700"/>
                </a:spcBef>
                <a:defRPr sz="1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2" name="Rounded Rectangle"/>
            <p:cNvSpPr/>
            <p:nvPr/>
          </p:nvSpPr>
          <p:spPr>
            <a:xfrm>
              <a:off x="9385682" y="13046"/>
              <a:ext cx="996740" cy="996740"/>
            </a:xfrm>
            <a:prstGeom prst="roundRect">
              <a:avLst>
                <a:gd name="adj" fmla="val 10000"/>
              </a:avLst>
            </a:prstGeom>
            <a:blipFill rotWithShape="1">
              <a:blip r:embed="rId9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215" name="Group"/>
            <p:cNvGrpSpPr/>
            <p:nvPr/>
          </p:nvGrpSpPr>
          <p:grpSpPr>
            <a:xfrm>
              <a:off x="9547942" y="611091"/>
              <a:ext cx="996739" cy="996740"/>
              <a:chOff x="0" y="0"/>
              <a:chExt cx="996738" cy="996738"/>
            </a:xfrm>
          </p:grpSpPr>
          <p:sp>
            <p:nvSpPr>
              <p:cNvPr id="213" name="Rounded Rectangle"/>
              <p:cNvSpPr/>
              <p:nvPr/>
            </p:nvSpPr>
            <p:spPr>
              <a:xfrm>
                <a:off x="0" y="0"/>
                <a:ext cx="996739" cy="996739"/>
              </a:xfrm>
              <a:prstGeom prst="roundRect">
                <a:avLst>
                  <a:gd name="adj" fmla="val 10000"/>
                </a:avLst>
              </a:prstGeom>
              <a:solidFill>
                <a:srgbClr val="2B6D9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66725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14" name="OUTPUT"/>
              <p:cNvSpPr txBox="1"/>
              <p:nvPr/>
            </p:nvSpPr>
            <p:spPr>
              <a:xfrm>
                <a:off x="29192" y="263673"/>
                <a:ext cx="938354" cy="46939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1909" tIns="41909" rIns="41909" bIns="41909" numCol="1" anchor="ctr">
                <a:spAutoFit/>
              </a:bodyPr>
              <a:lstStyle/>
              <a:p>
                <a:pPr algn="ctr" defTabSz="466725">
                  <a:lnSpc>
                    <a:spcPct val="90000"/>
                  </a:lnSpc>
                  <a:spcBef>
                    <a:spcPts val="700"/>
                  </a:spcBef>
                  <a:defRPr sz="1000">
                    <a:latin typeface="Cambria Bold"/>
                    <a:ea typeface="Cambria Bold"/>
                    <a:cs typeface="Cambria Bold"/>
                    <a:sym typeface="Cambria Bold"/>
                  </a:defRPr>
                </a:pPr>
              </a:p>
              <a:p>
                <a:pPr algn="ctr" defTabSz="466725">
                  <a:lnSpc>
                    <a:spcPct val="90000"/>
                  </a:lnSpc>
                  <a:spcBef>
                    <a:spcPts val="400"/>
                  </a:spcBef>
                  <a:defRPr sz="1000">
                    <a:latin typeface="Cambria Bold"/>
                    <a:ea typeface="Cambria Bold"/>
                    <a:cs typeface="Cambria Bold"/>
                    <a:sym typeface="Cambria Bold"/>
                  </a:defRPr>
                </a:pPr>
                <a:r>
                  <a:t>OUTPUT</a:t>
                </a:r>
              </a:p>
            </p:txBody>
          </p:sp>
        </p:grpSp>
      </p:grpSp>
      <p:sp>
        <p:nvSpPr>
          <p:cNvPr id="217" name="TextBox 5"/>
          <p:cNvSpPr txBox="1"/>
          <p:nvPr/>
        </p:nvSpPr>
        <p:spPr>
          <a:xfrm>
            <a:off x="1590887" y="698426"/>
            <a:ext cx="8468360" cy="849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PROPOSED APPROACH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70983" y="231106"/>
            <a:ext cx="1581151" cy="1390651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TextBox 11"/>
          <p:cNvSpPr txBox="1"/>
          <p:nvPr/>
        </p:nvSpPr>
        <p:spPr>
          <a:xfrm>
            <a:off x="5752253" y="1555937"/>
            <a:ext cx="6548034" cy="4536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Char char="✓"/>
            </a:pPr>
            <a:r>
              <a:t> </a:t>
            </a:r>
            <a:r>
              <a:rPr b="1" sz="2400">
                <a:latin typeface="Times New Roman"/>
                <a:ea typeface="Times New Roman"/>
                <a:cs typeface="Times New Roman"/>
                <a:sym typeface="Times New Roman"/>
              </a:rPr>
              <a:t>Frame differencing is used to detect motion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85750" indent="-285750">
              <a:buSzPct val="100000"/>
              <a:buChar char="✓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Frames are converted to grayscale</a:t>
            </a:r>
          </a:p>
          <a:p>
            <a: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85750" indent="-285750">
              <a:buSzPct val="100000"/>
              <a:buChar char="✓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Gaussian blur removes noise</a:t>
            </a:r>
          </a:p>
          <a:p>
            <a: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85750" indent="-285750">
              <a:buSzPct val="100000"/>
              <a:buChar char="✓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Thresholding highlights moving region</a:t>
            </a:r>
          </a:p>
          <a:p>
            <a:pPr marL="285750" indent="-285750">
              <a:buSzPct val="100000"/>
              <a:buChar char="✓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85750" indent="-285750">
              <a:buSzPct val="100000"/>
              <a:buChar char="✓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Motion is detected based on pixel intensity changes</a:t>
            </a:r>
          </a:p>
          <a:p>
            <a: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85750" indent="-285750">
              <a:buSzPct val="100000"/>
              <a:buChar char="✓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Beep alert is triggered when motion exceeds threshold </a:t>
            </a:r>
          </a:p>
        </p:txBody>
      </p:sp>
      <p:sp>
        <p:nvSpPr>
          <p:cNvPr id="221" name="TextBox 12"/>
          <p:cNvSpPr txBox="1"/>
          <p:nvPr/>
        </p:nvSpPr>
        <p:spPr>
          <a:xfrm>
            <a:off x="1197187" y="281237"/>
            <a:ext cx="9018693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SIMPLE IMPLEMENTATION</a:t>
            </a:r>
          </a:p>
        </p:txBody>
      </p:sp>
      <p:pic>
        <p:nvPicPr>
          <p:cNvPr id="222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8808" y="1463039"/>
            <a:ext cx="5108448" cy="48936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70983" y="231106"/>
            <a:ext cx="1581151" cy="139065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27" name="Flowchart: Alternate Process 3"/>
          <p:cNvGrpSpPr/>
          <p:nvPr/>
        </p:nvGrpSpPr>
        <p:grpSpPr>
          <a:xfrm>
            <a:off x="3168773" y="1132659"/>
            <a:ext cx="5854454" cy="5482590"/>
            <a:chOff x="0" y="0"/>
            <a:chExt cx="5854452" cy="5482588"/>
          </a:xfrm>
        </p:grpSpPr>
        <p:sp>
          <p:nvSpPr>
            <p:cNvPr id="225" name="Shape"/>
            <p:cNvSpPr/>
            <p:nvPr/>
          </p:nvSpPr>
          <p:spPr>
            <a:xfrm>
              <a:off x="0" y="-1"/>
              <a:ext cx="5854453" cy="5482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3600"/>
                  </a:moveTo>
                  <a:cubicBezTo>
                    <a:pt x="0" y="1612"/>
                    <a:pt x="1509" y="0"/>
                    <a:pt x="3371" y="0"/>
                  </a:cubicBezTo>
                  <a:lnTo>
                    <a:pt x="18229" y="0"/>
                  </a:lnTo>
                  <a:cubicBezTo>
                    <a:pt x="20091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0091" y="21600"/>
                    <a:pt x="18229" y="21600"/>
                  </a:cubicBezTo>
                  <a:lnTo>
                    <a:pt x="3371" y="21600"/>
                  </a:lnTo>
                  <a:cubicBezTo>
                    <a:pt x="1509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D9D9D9"/>
            </a:solidFill>
            <a:ln w="571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26" name="1.  Start…"/>
            <p:cNvSpPr txBox="1"/>
            <p:nvPr/>
          </p:nvSpPr>
          <p:spPr>
            <a:xfrm>
              <a:off x="532989" y="103958"/>
              <a:ext cx="4788474" cy="52746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1.  Start</a:t>
              </a:r>
            </a:p>
            <a:p>
              <a:pPr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2.  Capture video from camera</a:t>
              </a:r>
            </a:p>
            <a:p>
              <a:pPr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3.  Display normal camera feed</a:t>
              </a:r>
            </a:p>
            <a:p>
              <a:pPr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4.  Wait for user input ('T' key)</a:t>
              </a:r>
            </a:p>
            <a:p>
              <a:pPr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5.  Press 'T' to toggle motion detection ON/OFF</a:t>
              </a:r>
            </a:p>
            <a:p>
              <a:pPr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6.  Convert frames to grayscale</a:t>
              </a:r>
            </a:p>
            <a:p>
              <a:pPr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7.  Apply Gaussian Blur</a:t>
              </a:r>
            </a:p>
            <a:p>
              <a:pPr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8.  Compute difference between frames</a:t>
              </a:r>
            </a:p>
            <a:p>
              <a:pPr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9.  Apply thresholding (black &amp; white output)</a:t>
              </a:r>
            </a:p>
            <a:p>
              <a:pPr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10. Update reference frame</a:t>
              </a:r>
            </a:p>
            <a:p>
              <a:pPr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11. Check motion using pixel intensity</a:t>
              </a:r>
            </a:p>
            <a:p>
              <a:pPr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12. If motion detected → Increase counter</a:t>
              </a:r>
            </a:p>
            <a:p>
              <a:pPr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13. If counter exceeds limit → Trigger beep alert</a:t>
              </a:r>
            </a:p>
            <a:p>
              <a:pPr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14. Display output frame (black &amp; white)</a:t>
              </a:r>
            </a:p>
            <a:p>
              <a:pPr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15. Repeat steps 2–14 for each new frame</a:t>
              </a:r>
            </a:p>
            <a:p>
              <a:pPr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16. If 'Q' is pressed → Stop and release camera</a:t>
              </a:r>
            </a:p>
          </p:txBody>
        </p:sp>
      </p:grpSp>
      <p:sp>
        <p:nvSpPr>
          <p:cNvPr id="228" name="TextBox 5"/>
          <p:cNvSpPr txBox="1"/>
          <p:nvPr/>
        </p:nvSpPr>
        <p:spPr>
          <a:xfrm>
            <a:off x="2898986" y="231106"/>
            <a:ext cx="5759027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ALGORITHM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70983" y="231106"/>
            <a:ext cx="1581151" cy="1390651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TextBox 3"/>
          <p:cNvSpPr txBox="1"/>
          <p:nvPr/>
        </p:nvSpPr>
        <p:spPr>
          <a:xfrm>
            <a:off x="3237653" y="362366"/>
            <a:ext cx="4963160" cy="849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232" name="TextBox 5"/>
          <p:cNvSpPr txBox="1"/>
          <p:nvPr/>
        </p:nvSpPr>
        <p:spPr>
          <a:xfrm>
            <a:off x="1027789" y="1541277"/>
            <a:ext cx="432828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latin typeface="Cambria Bold"/>
                <a:ea typeface="Cambria Bold"/>
                <a:cs typeface="Cambria Bold"/>
                <a:sym typeface="Cambria Bold"/>
              </a:defRPr>
            </a:lvl1pPr>
          </a:lstStyle>
          <a:p>
            <a:pPr/>
            <a:r>
              <a:t>VID: MOTION DETECTION WITH BEEP ALERT</a:t>
            </a:r>
          </a:p>
        </p:txBody>
      </p:sp>
      <p:sp>
        <p:nvSpPr>
          <p:cNvPr id="233" name="TextBox 7"/>
          <p:cNvSpPr txBox="1"/>
          <p:nvPr/>
        </p:nvSpPr>
        <p:spPr>
          <a:xfrm>
            <a:off x="6453716" y="1989108"/>
            <a:ext cx="4509939" cy="1948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Clr>
                <a:srgbClr val="000000"/>
              </a:buClr>
              <a:buSzPct val="100000"/>
              <a:buChar char="✓"/>
              <a:defRPr b="1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Real-time motion detection achieved</a:t>
            </a:r>
          </a:p>
          <a:p>
            <a:pPr>
              <a:defRPr b="1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85750" indent="-285750">
              <a:buSzPct val="100000"/>
              <a:buChar char="✓"/>
              <a:defRPr b="1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Accurate detection using frame differencing</a:t>
            </a:r>
          </a:p>
          <a:p>
            <a:pPr>
              <a:defRPr b="1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85750" indent="-285750">
              <a:buSzPct val="100000"/>
              <a:buChar char="✓"/>
              <a:defRPr b="1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Black and white output highlights movement</a:t>
            </a:r>
          </a:p>
        </p:txBody>
      </p:sp>
      <p:sp>
        <p:nvSpPr>
          <p:cNvPr id="234" name="TextBox 9"/>
          <p:cNvSpPr txBox="1"/>
          <p:nvPr/>
        </p:nvSpPr>
        <p:spPr>
          <a:xfrm>
            <a:off x="6453716" y="4212756"/>
            <a:ext cx="4821512" cy="1415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Char char="✓"/>
              <a:defRPr b="1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Beep alert triggered on motion detection </a:t>
            </a:r>
          </a:p>
          <a:p>
            <a:pPr>
              <a:defRPr b="1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85750" indent="-285750">
              <a:buSzPct val="100000"/>
              <a:buChar char="✓"/>
              <a:defRPr b="1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Works effectively in simple environments</a:t>
            </a:r>
          </a:p>
          <a:p>
            <a:pPr>
              <a:defRPr b="1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85750" indent="-285750">
              <a:buSzPct val="100000"/>
              <a:buChar char="✓"/>
              <a:defRPr b="1">
                <a:solidFill>
                  <a:srgbClr val="215F9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Real-time processing achieved using OpenCV</a:t>
            </a:r>
          </a:p>
        </p:txBody>
      </p:sp>
      <p:pic>
        <p:nvPicPr>
          <p:cNvPr id="235" name="vid 2" descr="vid 2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1196042" y="1989108"/>
            <a:ext cx="3991781" cy="35135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500" fill="hold"/>
                                        <p:tgtEl>
                                          <p:spTgt spid="2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mediacall" nodeType="clickEffect" presetSubtype="0" presetID="3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0" dur="1000" fill="hold"/>
                                        <p:tgtEl>
                                          <p:spTgt spid="2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80000">
                <p:cTn id="11" fill="hold" display="0">
                  <p:stCondLst>
                    <p:cond delay="indefinite"/>
                  </p:stCondLst>
                </p:cTn>
                <p:tgtEl>
                  <p:spTgt spid="235"/>
                </p:tgtEl>
              </p:cMediaNode>
            </p:video>
            <p:seq concurrent="1" prevAc="none" nextAc="seek">
              <p:cTn id="12" evtFilter="cancelBubble" nodeType="interactiveSeq" restart="whenNotActive" fill="hold">
                <p:stCondLst>
                  <p:cond delay="0" evt="onClick">
                    <p:tgtEl>
                      <p:spTgt spid="235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3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07558" y="116183"/>
            <a:ext cx="1581151" cy="1390651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TextBox 2"/>
          <p:cNvSpPr txBox="1"/>
          <p:nvPr/>
        </p:nvSpPr>
        <p:spPr>
          <a:xfrm>
            <a:off x="3373120" y="447034"/>
            <a:ext cx="5445760" cy="849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APPLICATIONS</a:t>
            </a:r>
          </a:p>
        </p:txBody>
      </p:sp>
      <p:pic>
        <p:nvPicPr>
          <p:cNvPr id="239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0417" y="1506833"/>
            <a:ext cx="3276601" cy="18724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0" name="Picture 19" descr="Picture 1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782459" y="1506833"/>
            <a:ext cx="3660939" cy="1872471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TextBox 28"/>
          <p:cNvSpPr txBox="1"/>
          <p:nvPr/>
        </p:nvSpPr>
        <p:spPr>
          <a:xfrm>
            <a:off x="968416" y="3429000"/>
            <a:ext cx="2618571" cy="515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1.</a:t>
            </a:r>
            <a:r>
              <a:rPr sz="1400"/>
              <a:t>SURVEILLANCE/SECURITY</a:t>
            </a:r>
          </a:p>
        </p:txBody>
      </p:sp>
      <p:sp>
        <p:nvSpPr>
          <p:cNvPr id="242" name="TextBox 29"/>
          <p:cNvSpPr txBox="1"/>
          <p:nvPr/>
        </p:nvSpPr>
        <p:spPr>
          <a:xfrm>
            <a:off x="4329632" y="3459777"/>
            <a:ext cx="318515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latin typeface="Cambria Bold"/>
                <a:ea typeface="Cambria Bold"/>
                <a:cs typeface="Cambria Bold"/>
                <a:sym typeface="Cambria Bold"/>
              </a:defRPr>
            </a:pPr>
            <a:r>
              <a:t>2</a:t>
            </a:r>
            <a:r>
              <a:rPr b="1">
                <a:latin typeface="Times New Roman"/>
                <a:ea typeface="Times New Roman"/>
                <a:cs typeface="Times New Roman"/>
                <a:sym typeface="Times New Roman"/>
              </a:rPr>
              <a:t>. ROOM MONITORING SYSTEMS</a:t>
            </a:r>
          </a:p>
        </p:txBody>
      </p:sp>
      <p:sp>
        <p:nvSpPr>
          <p:cNvPr id="243" name="TextBox 30"/>
          <p:cNvSpPr txBox="1"/>
          <p:nvPr/>
        </p:nvSpPr>
        <p:spPr>
          <a:xfrm>
            <a:off x="8375903" y="3461134"/>
            <a:ext cx="2500377" cy="287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3. SMART HOMES </a:t>
            </a:r>
          </a:p>
        </p:txBody>
      </p:sp>
      <p:sp>
        <p:nvSpPr>
          <p:cNvPr id="244" name="TextBox 31"/>
          <p:cNvSpPr txBox="1"/>
          <p:nvPr/>
        </p:nvSpPr>
        <p:spPr>
          <a:xfrm>
            <a:off x="571269" y="6103189"/>
            <a:ext cx="3412864" cy="287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4. OFFICE/STORE MONITORING</a:t>
            </a:r>
          </a:p>
        </p:txBody>
      </p:sp>
      <p:sp>
        <p:nvSpPr>
          <p:cNvPr id="245" name="TextBox 32"/>
          <p:cNvSpPr txBox="1"/>
          <p:nvPr/>
        </p:nvSpPr>
        <p:spPr>
          <a:xfrm>
            <a:off x="4075572" y="6103187"/>
            <a:ext cx="3569498" cy="287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5.NIGHT /LOWLIGHT MONITORING</a:t>
            </a:r>
          </a:p>
        </p:txBody>
      </p:sp>
      <p:sp>
        <p:nvSpPr>
          <p:cNvPr id="246" name="TextBox 33"/>
          <p:cNvSpPr txBox="1"/>
          <p:nvPr/>
        </p:nvSpPr>
        <p:spPr>
          <a:xfrm>
            <a:off x="7841343" y="6052987"/>
            <a:ext cx="3569496" cy="287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6. ALARM SYSTEMS </a:t>
            </a:r>
          </a:p>
        </p:txBody>
      </p:sp>
      <p:pic>
        <p:nvPicPr>
          <p:cNvPr id="247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210930" y="1506833"/>
            <a:ext cx="3276599" cy="18724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782455" y="4168152"/>
            <a:ext cx="3660942" cy="18724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8" descr="Picture 8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210930" y="4273289"/>
            <a:ext cx="3276599" cy="17797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10" descr="Picture 10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40417" y="4273289"/>
            <a:ext cx="3275586" cy="17796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70983" y="231106"/>
            <a:ext cx="1581151" cy="1390651"/>
          </a:xfrm>
          <a:prstGeom prst="rect">
            <a:avLst/>
          </a:prstGeom>
          <a:ln w="12700">
            <a:miter lim="400000"/>
          </a:ln>
        </p:spPr>
      </p:pic>
      <p:sp>
        <p:nvSpPr>
          <p:cNvPr id="253" name="TextBox 3"/>
          <p:cNvSpPr txBox="1"/>
          <p:nvPr/>
        </p:nvSpPr>
        <p:spPr>
          <a:xfrm>
            <a:off x="3374136" y="698426"/>
            <a:ext cx="5056632" cy="849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254" name="TextBox 4"/>
          <p:cNvSpPr txBox="1"/>
          <p:nvPr/>
        </p:nvSpPr>
        <p:spPr>
          <a:xfrm>
            <a:off x="1065275" y="2176944"/>
            <a:ext cx="10061449" cy="359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Char char="✓"/>
              <a:defRPr sz="2000">
                <a:solidFill>
                  <a:srgbClr val="215F9A"/>
                </a:solidFill>
                <a:latin typeface="Cambria Bold"/>
                <a:ea typeface="Cambria Bold"/>
                <a:cs typeface="Cambria Bold"/>
                <a:sym typeface="Cambria Bold"/>
              </a:defRPr>
            </a:pPr>
            <a:r>
              <a:t>A basic motion detection system was implemented using frame differencing.</a:t>
            </a:r>
          </a:p>
          <a:p>
            <a:pPr>
              <a:defRPr sz="2000">
                <a:solidFill>
                  <a:srgbClr val="215F9A"/>
                </a:solidFill>
                <a:latin typeface="Cambria Bold"/>
                <a:ea typeface="Cambria Bold"/>
                <a:cs typeface="Cambria Bold"/>
                <a:sym typeface="Cambria Bold"/>
              </a:defRPr>
            </a:pPr>
          </a:p>
          <a:p>
            <a:pPr marL="285750" indent="-285750">
              <a:buSzPct val="100000"/>
              <a:buChar char="✓"/>
              <a:defRPr sz="2000">
                <a:solidFill>
                  <a:srgbClr val="215F9A"/>
                </a:solidFill>
                <a:latin typeface="Cambria Bold"/>
                <a:ea typeface="Cambria Bold"/>
                <a:cs typeface="Cambria Bold"/>
                <a:sym typeface="Cambria Bold"/>
              </a:defRPr>
            </a:pPr>
            <a:r>
              <a:t>The system accurately detects motion and triggers an alert (beep) when activity is detected.</a:t>
            </a:r>
          </a:p>
          <a:p>
            <a:pPr>
              <a:defRPr sz="2000">
                <a:solidFill>
                  <a:srgbClr val="215F9A"/>
                </a:solidFill>
                <a:latin typeface="Cambria Bold"/>
                <a:ea typeface="Cambria Bold"/>
                <a:cs typeface="Cambria Bold"/>
                <a:sym typeface="Cambria Bold"/>
              </a:defRPr>
            </a:pPr>
          </a:p>
          <a:p>
            <a:pPr marL="285750" indent="-285750">
              <a:buSzPct val="100000"/>
              <a:buChar char="✓"/>
              <a:defRPr sz="2000">
                <a:solidFill>
                  <a:srgbClr val="215F9A"/>
                </a:solidFill>
                <a:latin typeface="Cambria Bold"/>
                <a:ea typeface="Cambria Bold"/>
                <a:cs typeface="Cambria Bold"/>
                <a:sym typeface="Cambria Bold"/>
              </a:defRPr>
            </a:pPr>
            <a:r>
              <a:t> Simple techniques such as grayscale conversion, Gaussian blur, and thresholding were used effectively.</a:t>
            </a:r>
            <a:br/>
          </a:p>
          <a:p>
            <a:pPr marL="285750" indent="-285750">
              <a:buSzPct val="100000"/>
              <a:buChar char="✓"/>
              <a:defRPr sz="2000">
                <a:solidFill>
                  <a:srgbClr val="215F9A"/>
                </a:solidFill>
                <a:latin typeface="Cambria Bold"/>
                <a:ea typeface="Cambria Bold"/>
                <a:cs typeface="Cambria Bold"/>
                <a:sym typeface="Cambria Bold"/>
              </a:defRPr>
            </a:pPr>
            <a:r>
              <a:t>The system is efficient, lightweight, and suitable for basic surveillance applications.</a:t>
            </a:r>
          </a:p>
          <a:p>
            <a:pPr>
              <a:defRPr sz="2000">
                <a:solidFill>
                  <a:srgbClr val="215F9A"/>
                </a:solidFill>
                <a:latin typeface="Cambria Bold"/>
                <a:ea typeface="Cambria Bold"/>
                <a:cs typeface="Cambria Bold"/>
                <a:sym typeface="Cambria Bold"/>
              </a:defRPr>
            </a:pPr>
          </a:p>
          <a:p>
            <a:pPr marL="285750" indent="-285750">
              <a:buSzPct val="100000"/>
              <a:buChar char="✓"/>
              <a:defRPr sz="2000">
                <a:solidFill>
                  <a:srgbClr val="215F9A"/>
                </a:solidFill>
                <a:latin typeface="Cambria Bold"/>
                <a:ea typeface="Cambria Bold"/>
                <a:cs typeface="Cambria Bold"/>
                <a:sym typeface="Cambria Bold"/>
              </a:defRPr>
            </a:pPr>
            <a:r>
              <a:t> This project demonstrates a simple yet practical approach to real-time motion detection.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70983" y="231106"/>
            <a:ext cx="1581151" cy="1390651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TextBox 3"/>
          <p:cNvSpPr txBox="1"/>
          <p:nvPr/>
        </p:nvSpPr>
        <p:spPr>
          <a:xfrm>
            <a:off x="3307079" y="464766"/>
            <a:ext cx="5577841" cy="849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258" name="TextBox 4"/>
          <p:cNvSpPr txBox="1"/>
          <p:nvPr/>
        </p:nvSpPr>
        <p:spPr>
          <a:xfrm>
            <a:off x="1170431" y="1891070"/>
            <a:ext cx="9866377" cy="385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Char char="▪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IEEE/CVF Conference on Computer Vision and Pattern Recognition, 2023, Vancouver, Canada.</a:t>
            </a:r>
          </a:p>
          <a:p>
            <a:pPr marL="342900" indent="-342900">
              <a:buSzPct val="100000"/>
              <a:buChar char="▪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42900" indent="-342900">
              <a:buSzPct val="100000"/>
              <a:buChar char="▪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“Real-Time Motion Detection Using Frame Differencing,” IEEE, 2020.</a:t>
            </a:r>
          </a:p>
          <a:p>
            <a:pPr marL="342900" indent="-342900">
              <a:buSzPct val="100000"/>
              <a:buChar char="▪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42900" indent="-342900">
              <a:buSzPct val="100000"/>
              <a:buChar char="▪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OpenCV Documentation – </a:t>
            </a:r>
            <a:r>
              <a:rPr>
                <a:solidFill>
                  <a:srgbClr val="0433FF"/>
                </a:solidFill>
                <a:uFill>
                  <a:solidFill>
                    <a:srgbClr val="467886"/>
                  </a:solidFill>
                </a:uFill>
                <a:hlinkClick r:id="rId3" invalidUrl="" action="" tgtFrame="" tooltip="" history="1" highlightClick="0" endSnd="0"/>
              </a:rPr>
              <a:t>https://docs.opencv.org/4.x/</a:t>
            </a:r>
          </a:p>
          <a:p>
            <a:pPr marL="342900" indent="-342900">
              <a:buSzPct val="100000"/>
              <a:buChar char="▪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42900" indent="-342900">
              <a:buSzPct val="100000"/>
              <a:buChar char="▪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Python Documentation – </a:t>
            </a:r>
            <a:r>
              <a:rPr>
                <a:solidFill>
                  <a:srgbClr val="0433FF"/>
                </a:solidFill>
                <a:uFill>
                  <a:solidFill>
                    <a:srgbClr val="467886"/>
                  </a:solidFill>
                </a:uFill>
                <a:hlinkClick r:id="rId4" invalidUrl="" action="" tgtFrame="" tooltip="" history="1" highlightClick="0" endSnd="0"/>
              </a:rPr>
              <a:t>https://www.python.org/</a:t>
            </a:r>
          </a:p>
          <a:p>
            <a:pPr marL="342900" indent="-342900">
              <a:buSzPct val="100000"/>
              <a:buChar char="▪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42900" indent="-342900">
              <a:buSzPct val="100000"/>
              <a:buChar char="▪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GeeksforGeeks : “Motion Detection using OpenCV.” Available at: </a:t>
            </a:r>
            <a:r>
              <a:rPr>
                <a:solidFill>
                  <a:srgbClr val="0433FF"/>
                </a:solidFill>
                <a:uFill>
                  <a:solidFill>
                    <a:srgbClr val="467886"/>
                  </a:solidFill>
                </a:uFill>
                <a:hlinkClick r:id="rId5" invalidUrl="" action="" tgtFrame="" tooltip="" history="1" highlightClick="0" endSnd="0"/>
              </a:rPr>
              <a:t>https://www.geeksforgeeks.org/python/webcam-motion-detector-python/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70983" y="231106"/>
            <a:ext cx="1581151" cy="1390651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TextBox 2"/>
          <p:cNvSpPr txBox="1"/>
          <p:nvPr/>
        </p:nvSpPr>
        <p:spPr>
          <a:xfrm>
            <a:off x="1885187" y="2575255"/>
            <a:ext cx="8421625" cy="120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THANK 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Cambria"/>
        <a:ea typeface="Cambria"/>
        <a:cs typeface="Cambria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mbr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mbr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Cambria"/>
        <a:ea typeface="Cambria"/>
        <a:cs typeface="Cambria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mbr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mbr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